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604" r:id="rId3"/>
    <p:sldId id="682" r:id="rId4"/>
    <p:sldId id="686" r:id="rId5"/>
    <p:sldId id="693" r:id="rId6"/>
    <p:sldId id="669" r:id="rId7"/>
    <p:sldId id="694" r:id="rId8"/>
    <p:sldId id="695" r:id="rId9"/>
    <p:sldId id="696" r:id="rId10"/>
    <p:sldId id="697" r:id="rId11"/>
    <p:sldId id="698" r:id="rId12"/>
    <p:sldId id="699" r:id="rId13"/>
    <p:sldId id="603" r:id="rId14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FF3300"/>
    <a:srgbClr val="CC3300"/>
    <a:srgbClr val="BFBFBF"/>
    <a:srgbClr val="FDE8BF"/>
    <a:srgbClr val="3988A1"/>
    <a:srgbClr val="0D0D0D"/>
    <a:srgbClr val="F9C5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3212" autoAdjust="0"/>
  </p:normalViewPr>
  <p:slideViewPr>
    <p:cSldViewPr>
      <p:cViewPr>
        <p:scale>
          <a:sx n="100" d="100"/>
          <a:sy n="100" d="100"/>
        </p:scale>
        <p:origin x="1950" y="15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60" y="422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1080" y="-9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A35B8F-D6B8-4B1A-BED5-DBBA10E46047}" type="datetimeFigureOut">
              <a:rPr lang="ko-KR" altLang="en-US" smtClean="0"/>
              <a:t>2025-07-29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2B4096-A3A2-4F30-BA97-9793FEF49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3347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2B4096-A3A2-4F30-BA97-9793FEF49C6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53154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B4096-A3A2-4F30-BA97-9793FEF49C65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9666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15AE2-6D69-8D2B-F9B4-DE25C9B2A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FB882D8-67FE-81F9-949C-0950117EB3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6BFDB5A-7DAD-1829-C99B-1559EAF09C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4EC09E-E038-769E-B7CB-905DB70A70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B4096-A3A2-4F30-BA97-9793FEF49C65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8683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B0614-384E-21DA-8104-9E5C19699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54FFBE9-2C61-4829-1659-1AED4FC9CE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3C351B6-88A1-CDDD-28D1-837DA918F3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DF1F42-1046-C960-9E7F-63DB753144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B4096-A3A2-4F30-BA97-9793FEF49C65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47034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5DE99-E271-9CA1-7F40-9DBC71D9B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4B9B87F-60B5-EBA6-922D-173A804D69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B26CADE-35A9-D472-2177-5FA3479AC8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2BEB16-785A-2ED8-B7E8-F9EED553CD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B4096-A3A2-4F30-BA97-9793FEF49C65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39178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E025D-46DD-1C06-0B33-81D749B7A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5615E56-F3DD-7806-BB0E-9C8E5695A1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DF4FB86-3530-891C-4AFE-E14EA9D9F5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14DECA-A961-E738-D32C-786ACAD3EC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B4096-A3A2-4F30-BA97-9793FEF49C65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7871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30"/>
            <a:ext cx="7772400" cy="1470025"/>
          </a:xfrm>
        </p:spPr>
        <p:txBody>
          <a:bodyPr>
            <a:normAutofit/>
          </a:bodyPr>
          <a:lstStyle>
            <a:lvl1pPr algn="r">
              <a:defRPr sz="3200">
                <a:latin typeface="Calibri" panose="020F050202020403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9644B-26F1-4A77-80B4-864CA05B8475}" type="datetime1">
              <a:rPr lang="ko-KR" altLang="en-US" smtClean="0"/>
              <a:t>2025-07-29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9412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>
                <a:latin typeface="Calibri" panose="020F0502020204030204" pitchFamily="34" charset="0"/>
                <a:cs typeface="Times New Roman" panose="02020603050405020304" pitchFamily="18" charset="0"/>
              </a:defRPr>
            </a:lvl1pPr>
            <a:lvl2pPr>
              <a:defRPr sz="1600">
                <a:latin typeface="Calibri" panose="020F0502020204030204" pitchFamily="34" charset="0"/>
                <a:cs typeface="Times New Roman" panose="02020603050405020304" pitchFamily="18" charset="0"/>
              </a:defRPr>
            </a:lvl2pPr>
            <a:lvl3pPr>
              <a:defRPr sz="1400">
                <a:latin typeface="Calibri" panose="020F0502020204030204" pitchFamily="34" charset="0"/>
                <a:cs typeface="Times New Roman" panose="02020603050405020304" pitchFamily="18" charset="0"/>
              </a:defRPr>
            </a:lvl3pPr>
            <a:lvl4pPr>
              <a:defRPr sz="1200">
                <a:latin typeface="Calibri" panose="020F0502020204030204" pitchFamily="34" charset="0"/>
                <a:cs typeface="Times New Roman" panose="02020603050405020304" pitchFamily="18" charset="0"/>
              </a:defRPr>
            </a:lvl4pPr>
            <a:lvl5pPr>
              <a:defRPr sz="1100">
                <a:latin typeface="Calibri" panose="020F0502020204030204" pitchFamily="34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1A0DF-1D7A-48E6-A273-4781B29FC3A2}" type="datetime1">
              <a:rPr lang="ko-KR" altLang="en-US" smtClean="0"/>
              <a:t>2025-07-29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7568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3"/>
            <a:ext cx="77724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2639C-9C54-4D59-B63B-6A40A62DDA1D}" type="datetime1">
              <a:rPr lang="ko-KR" altLang="en-US" smtClean="0"/>
              <a:t>2025-07-29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1345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2F800-C452-4BB4-A29E-1C525AD1212C}" type="datetime1">
              <a:rPr lang="ko-KR" altLang="en-US" smtClean="0"/>
              <a:t>2025-07-29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3401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6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33" y="1535116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33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3696B-9AD2-44FF-BD2C-41BB452FE4A1}" type="datetime1">
              <a:rPr lang="ko-KR" altLang="en-US" smtClean="0"/>
              <a:t>2025-07-29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4030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7C143-B4F5-4116-B5F3-D83AE60017C9}" type="datetime1">
              <a:rPr lang="ko-KR" altLang="en-US" smtClean="0"/>
              <a:t>2025-07-29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5181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5BDB4-7A29-41E6-A346-B23989C956FF}" type="datetime1">
              <a:rPr lang="ko-KR" altLang="en-US" smtClean="0"/>
              <a:t>2025-07-29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867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8" y="27305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8" y="1435104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CB53D-6090-4BEC-A9F8-8A6C8FC86260}" type="datetime1">
              <a:rPr lang="ko-KR" altLang="en-US" smtClean="0"/>
              <a:t>2025-07-29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7355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82BAD-40F7-494C-9C1B-FB21063E74DF}" type="datetime1">
              <a:rPr lang="ko-KR" altLang="en-US" smtClean="0"/>
              <a:t>2025-07-29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0842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76FA3-784D-405C-B6FF-9C59F33B3B76}" type="datetime1">
              <a:rPr lang="ko-KR" altLang="en-US" smtClean="0"/>
              <a:t>2025-07-29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9273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42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CA628-0F48-49DD-B493-CEE122CBE4E3}" type="datetime1">
              <a:rPr lang="ko-KR" altLang="en-US" smtClean="0"/>
              <a:t>2025-07-29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90018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A4631-7260-4D4B-B3D4-7EB9234DBA31}" type="datetime1">
              <a:rPr lang="ko-KR" altLang="en-US" smtClean="0"/>
              <a:t>2025-07-29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직사각형 5"/>
          <p:cNvSpPr/>
          <p:nvPr userDrawn="1"/>
        </p:nvSpPr>
        <p:spPr>
          <a:xfrm>
            <a:off x="7452320" y="0"/>
            <a:ext cx="1691680" cy="169168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1874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7A4631-7260-4D4B-B3D4-7EB9234DBA31}" type="datetime1">
              <a:rPr lang="ko-KR" altLang="en-US" smtClean="0"/>
              <a:t>2025-07-29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Picture 2" descr="https://lh3.googleusercontent.com/7G5NeQaGWmu01aZuzBN_jiCGqCDE7K5O5eT9dAI2oTRIleTQ1ZvQStLFLybGdWJpsRLjc-ihlfhXlahZ-NP8vJHuH2PR9wRRX8KpZQxeld-u0W6Fuw=w1280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2073" y="121196"/>
            <a:ext cx="1468686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https://lh3.googleusercontent.com/HKTsDQnD5XDpENfjlrGI0oK4fnM6tz3yUgSN00wgKjgtsgfo32sBuriKTsuTV7vI8iKOmSGJaBZESUATbvat2CPWxBdpat2GxJ4xHApashfSLjrW-4s=w1280"/>
          <p:cNvPicPr>
            <a:picLocks noChangeAspect="1" noChangeArrowheads="1"/>
          </p:cNvPicPr>
          <p:nvPr userDrawn="1"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442978" y="465791"/>
            <a:ext cx="593518" cy="231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1267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400" b="1" kern="1200">
          <a:solidFill>
            <a:srgbClr val="0070C0"/>
          </a:solidFill>
          <a:latin typeface="Calibri" panose="020F0502020204030204" pitchFamily="34" charset="0"/>
          <a:ea typeface="Arial Unicode MS" panose="020B0604020202020204" pitchFamily="50" charset="-127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Calibri" panose="020F050202020403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Calibri" panose="020F050202020403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1100" kern="1200">
          <a:solidFill>
            <a:schemeClr val="tx1"/>
          </a:solidFill>
          <a:latin typeface="Calibri" panose="020F050202020403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323528" y="2130430"/>
            <a:ext cx="8136904" cy="1470025"/>
          </a:xfrm>
        </p:spPr>
        <p:txBody>
          <a:bodyPr>
            <a:noAutofit/>
          </a:bodyPr>
          <a:lstStyle/>
          <a:p>
            <a:r>
              <a:rPr lang="en-US" altLang="ko-KR" sz="2800" dirty="0">
                <a:ea typeface="Calibri" panose="020F0502020204030204" pitchFamily="34" charset="0"/>
                <a:cs typeface="Calibri" panose="020F0502020204030204" pitchFamily="34" charset="0"/>
              </a:rPr>
              <a:t>XV6_</a:t>
            </a:r>
            <a:r>
              <a:rPr lang="ko-KR" altLang="ko-KR" sz="2800" dirty="0">
                <a:cs typeface="Calibri" panose="020F0502020204030204" pitchFamily="34" charset="0"/>
              </a:rPr>
              <a:t>scheduler_v2</a:t>
            </a:r>
            <a:br>
              <a:rPr lang="ko-KR" altLang="ko-KR" sz="2800" dirty="0">
                <a:cs typeface="Calibri" panose="020F0502020204030204" pitchFamily="34" charset="0"/>
              </a:rPr>
            </a:br>
            <a:r>
              <a:rPr lang="ko-KR" altLang="en-US" sz="2800" dirty="0"/>
              <a:t> </a:t>
            </a:r>
            <a:r>
              <a:rPr lang="en-US" altLang="ko-KR" sz="2800" dirty="0"/>
              <a:t>(c) P#1</a:t>
            </a:r>
            <a:br>
              <a:rPr lang="en-US" altLang="ko-KR" sz="2800" dirty="0"/>
            </a:br>
            <a:r>
              <a:rPr lang="en-US" altLang="ko-KR" sz="2000" dirty="0"/>
              <a:t>Progress Report 2025.07.29</a:t>
            </a:r>
            <a:endParaRPr lang="ko-KR" altLang="en-US" sz="20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467544" y="4437112"/>
            <a:ext cx="7992888" cy="1512168"/>
          </a:xfrm>
        </p:spPr>
        <p:txBody>
          <a:bodyPr>
            <a:normAutofit/>
          </a:bodyPr>
          <a:lstStyle/>
          <a:p>
            <a:r>
              <a:rPr lang="en-US" altLang="ko-KR" b="1" dirty="0" err="1">
                <a:solidFill>
                  <a:schemeClr val="tx1"/>
                </a:solidFill>
              </a:rPr>
              <a:t>ChanHyung</a:t>
            </a:r>
            <a:r>
              <a:rPr lang="en-US" altLang="ko-KR" b="1" dirty="0">
                <a:solidFill>
                  <a:schemeClr val="tx1"/>
                </a:solidFill>
              </a:rPr>
              <a:t> Kim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School of AI Convergence, SSU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99405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Outline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kumimoji="1" lang="en-US" altLang="en-US" sz="2400" dirty="0"/>
              <a:t>PCB structure(</a:t>
            </a:r>
            <a:r>
              <a:rPr kumimoji="1" lang="en-US" altLang="en-US" sz="2400" dirty="0" err="1"/>
              <a:t>proc.h</a:t>
            </a:r>
            <a:r>
              <a:rPr kumimoji="1" lang="en-US" altLang="en-US" sz="2400" dirty="0"/>
              <a:t>)</a:t>
            </a:r>
            <a:endParaRPr lang="en-US" altLang="ko-KR" sz="2400" dirty="0"/>
          </a:p>
          <a:p>
            <a:pPr marL="457200" indent="-457200">
              <a:buFont typeface="+mj-lt"/>
              <a:buAutoNum type="arabicPeriod"/>
            </a:pPr>
            <a:r>
              <a:rPr kumimoji="1" lang="en-US" altLang="en-US" sz="2400" dirty="0"/>
              <a:t>fork()</a:t>
            </a:r>
          </a:p>
          <a:p>
            <a:pPr marL="457200" indent="-457200">
              <a:buFont typeface="+mj-lt"/>
              <a:buAutoNum type="arabicPeriod"/>
            </a:pPr>
            <a:r>
              <a:rPr kumimoji="1" lang="en-US" altLang="ko-KR" sz="2400" dirty="0" err="1"/>
              <a:t>fork_rt</a:t>
            </a:r>
            <a:r>
              <a:rPr kumimoji="1" lang="en-US" altLang="ko-KR" sz="2400" dirty="0"/>
              <a:t>()</a:t>
            </a:r>
          </a:p>
          <a:p>
            <a:pPr marL="457200" indent="-457200">
              <a:buFont typeface="+mj-lt"/>
              <a:buAutoNum type="arabicPeriod"/>
            </a:pPr>
            <a:r>
              <a:rPr kumimoji="1" lang="en-US" altLang="ko-KR" sz="2400" dirty="0"/>
              <a:t>scheduler()</a:t>
            </a:r>
          </a:p>
          <a:p>
            <a:pPr marL="457200" indent="-457200">
              <a:buFont typeface="+mj-lt"/>
              <a:buAutoNum type="arabicPeriod"/>
            </a:pPr>
            <a:r>
              <a:rPr kumimoji="1" lang="en-US" altLang="ko-KR" sz="2400" dirty="0"/>
              <a:t>Additional features and testcase</a:t>
            </a:r>
          </a:p>
          <a:p>
            <a:pPr marL="457200" indent="-457200">
              <a:buFont typeface="+mj-lt"/>
              <a:buAutoNum type="arabicPeriod"/>
            </a:pPr>
            <a:r>
              <a:rPr kumimoji="1" lang="en-US" altLang="ko-KR" sz="2400" dirty="0" err="1"/>
              <a:t>Test_case</a:t>
            </a:r>
            <a:endParaRPr kumimoji="1" lang="en-US" altLang="ko-KR" sz="2400" dirty="0"/>
          </a:p>
          <a:p>
            <a:pPr marL="0" indent="0">
              <a:buNone/>
            </a:pPr>
            <a:endParaRPr lang="en-US" altLang="ko-KR" sz="24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3610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CE4E44-EA36-A6C2-D944-EBE451225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/>
              <a:t>1. PCB structure</a:t>
            </a:r>
            <a:endParaRPr kumimoji="1" lang="ko-Kore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F413B6-12A0-C9B2-91F0-F509BFFDFE9C}"/>
              </a:ext>
            </a:extLst>
          </p:cNvPr>
          <p:cNvSpPr txBox="1"/>
          <p:nvPr/>
        </p:nvSpPr>
        <p:spPr>
          <a:xfrm>
            <a:off x="5292080" y="4797150"/>
            <a:ext cx="3923928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</a:pPr>
            <a:r>
              <a:rPr lang="en-US" altLang="ko-KR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&lt;proc</a:t>
            </a:r>
            <a:r>
              <a:rPr lang="ko-KR" altLang="en-US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 </a:t>
            </a:r>
            <a:r>
              <a:rPr lang="en-US" altLang="ko-KR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struct&gt;</a:t>
            </a:r>
          </a:p>
          <a:p>
            <a:pPr>
              <a:spcBef>
                <a:spcPts val="360"/>
              </a:spcBef>
            </a:pP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   -  PCB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를 하나의 묶음</a:t>
            </a: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데이터로 관리</a:t>
            </a:r>
            <a:endParaRPr lang="en-US" altLang="ko-KR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   -  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프로세스 전환</a:t>
            </a: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, 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추적</a:t>
            </a: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,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 관리에 용이</a:t>
            </a:r>
            <a:endParaRPr lang="en-US" altLang="ko-KR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   -  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확장성 편이</a:t>
            </a:r>
            <a:endParaRPr lang="en-US" altLang="ko-KR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8FBF8B-AE6E-3C35-3B84-33727665A3BA}"/>
              </a:ext>
            </a:extLst>
          </p:cNvPr>
          <p:cNvSpPr txBox="1"/>
          <p:nvPr/>
        </p:nvSpPr>
        <p:spPr>
          <a:xfrm>
            <a:off x="107504" y="4572562"/>
            <a:ext cx="4968552" cy="18033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360"/>
              </a:spcBef>
            </a:pPr>
            <a:r>
              <a:rPr lang="en-US" altLang="ko-KR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&lt;</a:t>
            </a:r>
            <a:r>
              <a:rPr lang="ko-KR" altLang="en-US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추가</a:t>
            </a:r>
            <a:r>
              <a:rPr lang="en-US" altLang="ko-KR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 </a:t>
            </a:r>
            <a:r>
              <a:rPr lang="ko-KR" altLang="en-US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멤버변수</a:t>
            </a:r>
            <a:r>
              <a:rPr lang="en-US" altLang="ko-KR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&gt;</a:t>
            </a:r>
            <a:r>
              <a:rPr lang="ko-KR" altLang="en-US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 </a:t>
            </a:r>
            <a:endParaRPr lang="en-US" altLang="ko-KR" b="1" spc="-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ea typeface="맑은 고딕" panose="020B0503020000020004" pitchFamily="50" charset="-127"/>
            </a:endParaRPr>
          </a:p>
          <a:p>
            <a:pPr>
              <a:spcBef>
                <a:spcPts val="360"/>
              </a:spcBef>
            </a:pPr>
            <a:r>
              <a:rPr lang="en-US" altLang="ko-KR" sz="15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  </a:t>
            </a:r>
            <a:r>
              <a:rPr lang="en-US" altLang="ko-KR" sz="1500" b="1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1. </a:t>
            </a:r>
            <a:r>
              <a:rPr lang="en-US" altLang="ko-KR" sz="1500" b="1" spc="-1" dirty="0" err="1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rt_rr</a:t>
            </a:r>
            <a:r>
              <a:rPr lang="en-US" altLang="ko-KR" sz="1500" b="1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</a:t>
            </a:r>
          </a:p>
          <a:p>
            <a:pPr>
              <a:spcBef>
                <a:spcPts val="360"/>
              </a:spcBef>
            </a:pPr>
            <a:r>
              <a:rPr lang="en-US" altLang="ko-KR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      </a:t>
            </a:r>
            <a:r>
              <a:rPr lang="en-US" altLang="ko-KR" sz="1400" spc="-1" dirty="0">
                <a:solidFill>
                  <a:srgbClr val="000000"/>
                </a:solidFill>
                <a:latin typeface="Calibri"/>
              </a:rPr>
              <a:t>- RR/RT </a:t>
            </a:r>
            <a:r>
              <a:rPr lang="ko-KR" altLang="en-US" sz="1400" spc="-1" dirty="0">
                <a:solidFill>
                  <a:srgbClr val="000000"/>
                </a:solidFill>
                <a:latin typeface="Calibri"/>
              </a:rPr>
              <a:t>동시 존재할 경우 무조건 </a:t>
            </a:r>
            <a:r>
              <a:rPr lang="en-US" altLang="ko-KR" sz="1400" spc="-1" dirty="0">
                <a:solidFill>
                  <a:srgbClr val="000000"/>
                </a:solidFill>
                <a:latin typeface="Calibri"/>
              </a:rPr>
              <a:t>RT</a:t>
            </a:r>
            <a:r>
              <a:rPr lang="ko-KR" altLang="en-US" sz="1400" spc="-1" dirty="0">
                <a:solidFill>
                  <a:srgbClr val="000000"/>
                </a:solidFill>
                <a:latin typeface="Calibri"/>
              </a:rPr>
              <a:t>우선시행</a:t>
            </a:r>
            <a:r>
              <a:rPr lang="en-US" altLang="ko-KR" sz="1400" spc="-1" dirty="0">
                <a:solidFill>
                  <a:srgbClr val="000000"/>
                </a:solidFill>
                <a:latin typeface="Calibri"/>
              </a:rPr>
              <a:t>(pdf</a:t>
            </a:r>
            <a:r>
              <a:rPr lang="ko-KR" altLang="en-US" sz="1400" spc="-1" dirty="0">
                <a:solidFill>
                  <a:srgbClr val="000000"/>
                </a:solidFill>
                <a:latin typeface="Calibri"/>
              </a:rPr>
              <a:t>요구사항</a:t>
            </a:r>
            <a:r>
              <a:rPr lang="en-US" altLang="ko-KR" sz="1400" spc="-1" dirty="0">
                <a:solidFill>
                  <a:srgbClr val="000000"/>
                </a:solidFill>
                <a:latin typeface="Calibri"/>
              </a:rPr>
              <a:t>)</a:t>
            </a:r>
            <a:endParaRPr lang="en-US" altLang="ko-KR" sz="1400" spc="-1" dirty="0">
              <a:solidFill>
                <a:srgbClr val="000000"/>
              </a:solidFill>
              <a:latin typeface="Calibri"/>
              <a:ea typeface="맑은 고딕" panose="020B0503020000020004" pitchFamily="50" charset="-127"/>
            </a:endParaRPr>
          </a:p>
          <a:p>
            <a:pPr>
              <a:spcBef>
                <a:spcPts val="360"/>
              </a:spcBef>
            </a:pPr>
            <a:r>
              <a:rPr lang="en-US" altLang="ko-KR" sz="14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        - RR</a:t>
            </a:r>
            <a:r>
              <a:rPr lang="ko-KR" altLang="en-US" sz="14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용 </a:t>
            </a:r>
            <a:r>
              <a:rPr lang="en-US" altLang="ko-KR" sz="14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process</a:t>
            </a:r>
            <a:r>
              <a:rPr lang="ko-KR" altLang="en-US" sz="14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인지 </a:t>
            </a:r>
            <a:r>
              <a:rPr lang="en-US" altLang="ko-KR" sz="14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RT</a:t>
            </a:r>
            <a:r>
              <a:rPr lang="ko-KR" altLang="en-US" sz="14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용 </a:t>
            </a:r>
            <a:r>
              <a:rPr lang="en-US" altLang="ko-KR" sz="14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process</a:t>
            </a:r>
            <a:r>
              <a:rPr lang="ko-KR" altLang="en-US" sz="14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인지 구분</a:t>
            </a:r>
            <a:endParaRPr lang="en-US" altLang="ko-KR" sz="1400" spc="-1" dirty="0">
              <a:solidFill>
                <a:srgbClr val="000000"/>
              </a:solidFill>
              <a:latin typeface="Calibri"/>
              <a:ea typeface="맑은 고딕" panose="020B0503020000020004" pitchFamily="50" charset="-127"/>
            </a:endParaRPr>
          </a:p>
          <a:p>
            <a:pPr>
              <a:spcBef>
                <a:spcPts val="360"/>
              </a:spcBef>
            </a:pPr>
            <a:r>
              <a:rPr lang="en-US" altLang="ko-KR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  </a:t>
            </a:r>
          </a:p>
          <a:p>
            <a:pPr>
              <a:spcBef>
                <a:spcPts val="360"/>
              </a:spcBef>
            </a:pPr>
            <a:r>
              <a:rPr lang="en-US" altLang="ko-KR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  </a:t>
            </a:r>
            <a:r>
              <a:rPr lang="en-US" altLang="ko-KR" sz="1500" b="1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2. </a:t>
            </a:r>
            <a:r>
              <a:rPr lang="en-US" altLang="ko-KR" sz="1500" b="1" spc="-1" dirty="0" err="1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aging_time</a:t>
            </a:r>
            <a:endParaRPr lang="en-US" altLang="ko-KR" sz="1400" b="1" spc="-1" dirty="0">
              <a:solidFill>
                <a:srgbClr val="000000"/>
              </a:solidFill>
              <a:latin typeface="Calibri"/>
              <a:ea typeface="맑은 고딕" panose="020B0503020000020004" pitchFamily="50" charset="-127"/>
            </a:endParaRPr>
          </a:p>
          <a:p>
            <a:pPr>
              <a:spcBef>
                <a:spcPts val="360"/>
              </a:spcBef>
            </a:pPr>
            <a:r>
              <a:rPr lang="ko-KR" altLang="en-US" sz="14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 </a:t>
            </a:r>
            <a:r>
              <a:rPr lang="ko-KR" altLang="en-US" sz="14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      </a:t>
            </a:r>
            <a:r>
              <a:rPr lang="en-US" altLang="ko-KR" sz="14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- </a:t>
            </a:r>
            <a:r>
              <a:rPr lang="ko-KR" altLang="en-US" sz="14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추가 기능</a:t>
            </a:r>
            <a:r>
              <a:rPr lang="en-US" altLang="ko-KR" sz="14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(</a:t>
            </a:r>
            <a:r>
              <a:rPr lang="ko-KR" altLang="en-US" sz="14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추후 설명</a:t>
            </a:r>
            <a:r>
              <a:rPr lang="en-US" altLang="ko-KR" sz="14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)</a:t>
            </a:r>
            <a:endParaRPr lang="en-US" altLang="ko-KR" sz="1400" b="0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B27E865-800E-4A3C-6287-905108B49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196752"/>
            <a:ext cx="5976664" cy="310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590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5B0CF-BDCB-5042-95ED-3B3DA12A7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DB590-96AB-113B-6C5F-AB28A9230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/>
              <a:t>2. fork() – </a:t>
            </a:r>
            <a:r>
              <a:rPr kumimoji="1" lang="en-US" altLang="en-US" dirty="0" err="1"/>
              <a:t>Roung</a:t>
            </a:r>
            <a:r>
              <a:rPr kumimoji="1" lang="en-US" altLang="en-US" dirty="0"/>
              <a:t> Robin</a:t>
            </a:r>
            <a:r>
              <a:rPr kumimoji="1" lang="ko-KR" altLang="en-US" dirty="0"/>
              <a:t>방식 프로세스 생성</a:t>
            </a:r>
            <a:endParaRPr kumimoji="1" lang="ko-Kore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B5602F-57C6-C7E4-0789-7E1DB3F23F1A}"/>
              </a:ext>
            </a:extLst>
          </p:cNvPr>
          <p:cNvSpPr txBox="1"/>
          <p:nvPr/>
        </p:nvSpPr>
        <p:spPr>
          <a:xfrm>
            <a:off x="4463480" y="1246227"/>
            <a:ext cx="4680520" cy="5616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</a:pPr>
            <a:r>
              <a:rPr lang="en-US" altLang="ko-KR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&lt;</a:t>
            </a:r>
            <a:r>
              <a:rPr lang="en-US" altLang="ko-KR" sz="1800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fork() </a:t>
            </a:r>
            <a:r>
              <a:rPr lang="ko-KR" altLang="en-US" sz="1800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특징</a:t>
            </a:r>
            <a:r>
              <a:rPr lang="en-US" altLang="ko-KR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&gt;</a:t>
            </a:r>
          </a:p>
          <a:p>
            <a:pPr marL="285750" indent="-285750">
              <a:spcBef>
                <a:spcPts val="360"/>
              </a:spcBef>
              <a:buFontTx/>
              <a:buChar char="-"/>
            </a:pPr>
            <a:r>
              <a:rPr lang="ko-KR" altLang="en-US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새로운 프로세스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(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자식 프로세스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)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를 생성하는 함수</a:t>
            </a:r>
            <a:endParaRPr lang="en-US" altLang="ko-KR" sz="1500" spc="-1" dirty="0">
              <a:solidFill>
                <a:srgbClr val="000000"/>
              </a:solidFill>
              <a:latin typeface="Calibri"/>
              <a:ea typeface="맑은 고딕" panose="020B0503020000020004" pitchFamily="50" charset="-127"/>
            </a:endParaRPr>
          </a:p>
          <a:p>
            <a:pPr marL="285750" indent="-285750">
              <a:spcBef>
                <a:spcPts val="360"/>
              </a:spcBef>
              <a:buFontTx/>
              <a:buChar char="-"/>
            </a:pPr>
            <a:r>
              <a:rPr lang="ko-KR" altLang="en-US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현재 실행중인 부모의 상태와 자원을 복제</a:t>
            </a:r>
            <a:endParaRPr lang="en-US" altLang="ko-KR" sz="1500" spc="-1" dirty="0">
              <a:solidFill>
                <a:srgbClr val="000000"/>
              </a:solidFill>
              <a:latin typeface="Calibri"/>
              <a:ea typeface="맑은 고딕" panose="020B0503020000020004" pitchFamily="50" charset="-127"/>
            </a:endParaRPr>
          </a:p>
          <a:p>
            <a:pPr marL="285750" indent="-285750">
              <a:spcBef>
                <a:spcPts val="360"/>
              </a:spcBef>
              <a:buFontTx/>
              <a:buChar char="-"/>
            </a:pPr>
            <a:r>
              <a:rPr lang="en-US" altLang="ko-KR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Fork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로 생성된 프로세스는 무조건 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RR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방식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(pdf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요구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)</a:t>
            </a:r>
          </a:p>
          <a:p>
            <a:pPr>
              <a:spcBef>
                <a:spcPts val="360"/>
              </a:spcBef>
            </a:pP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〮 </a:t>
            </a:r>
            <a:r>
              <a:rPr lang="en-US" altLang="ko-KR" sz="1600" b="1" spc="-1" dirty="0" err="1">
                <a:solidFill>
                  <a:srgbClr val="000000"/>
                </a:solidFill>
                <a:latin typeface="Calibri"/>
              </a:rPr>
              <a:t>allocproc</a:t>
            </a: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()</a:t>
            </a:r>
          </a:p>
          <a:p>
            <a:pPr>
              <a:spcBef>
                <a:spcPts val="360"/>
              </a:spcBef>
            </a:pPr>
            <a:r>
              <a:rPr lang="en-US" altLang="ko-KR" sz="1600" spc="-1" dirty="0">
                <a:solidFill>
                  <a:srgbClr val="000000"/>
                </a:solidFill>
                <a:latin typeface="Calibri"/>
              </a:rPr>
              <a:t>   - </a:t>
            </a:r>
            <a:r>
              <a:rPr lang="ko-KR" altLang="en-US" sz="1600" spc="-1" dirty="0">
                <a:solidFill>
                  <a:srgbClr val="000000"/>
                </a:solidFill>
                <a:latin typeface="Calibri"/>
              </a:rPr>
              <a:t>자식 프로세스를 위한 공간 할당</a:t>
            </a:r>
            <a:endParaRPr lang="en-US" altLang="ko-KR" sz="1600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z="1600" b="1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  </a:t>
            </a:r>
            <a:r>
              <a:rPr lang="en-US" altLang="ko-KR" sz="16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- </a:t>
            </a:r>
            <a:r>
              <a:rPr lang="ko-KR" altLang="en-US" sz="16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할당 시 구조체 초기화</a:t>
            </a:r>
            <a:r>
              <a:rPr lang="en-US" altLang="ko-KR" sz="16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  </a:t>
            </a:r>
          </a:p>
          <a:p>
            <a:pPr>
              <a:spcBef>
                <a:spcPts val="360"/>
              </a:spcBef>
            </a:pPr>
            <a:r>
              <a:rPr lang="en-US" altLang="ko-KR" sz="16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  - </a:t>
            </a:r>
            <a:r>
              <a:rPr lang="ko-KR" altLang="en-US" sz="16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실패 시 </a:t>
            </a:r>
            <a:r>
              <a:rPr lang="en-US" altLang="ko-KR" sz="16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-1 return</a:t>
            </a:r>
          </a:p>
          <a:p>
            <a:pPr>
              <a:spcBef>
                <a:spcPts val="360"/>
              </a:spcBef>
            </a:pP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〮 </a:t>
            </a:r>
            <a:r>
              <a:rPr lang="en-US" altLang="ko-KR" sz="1600" b="1" spc="-1" dirty="0" err="1">
                <a:solidFill>
                  <a:srgbClr val="000000"/>
                </a:solidFill>
                <a:latin typeface="Calibri"/>
              </a:rPr>
              <a:t>copyuvm</a:t>
            </a: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()</a:t>
            </a:r>
            <a:r>
              <a:rPr lang="ko-KR" altLang="en-US" sz="1600" b="1" spc="-1" dirty="0">
                <a:solidFill>
                  <a:srgbClr val="000000"/>
                </a:solidFill>
                <a:latin typeface="Calibri"/>
              </a:rPr>
              <a:t> </a:t>
            </a:r>
            <a:endParaRPr lang="en-US" altLang="ko-KR" sz="1600" b="1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   - 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부모프로세스의 메모리를 자식용으로 복사</a:t>
            </a: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   - 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실패 시 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‘-1’ return</a:t>
            </a:r>
          </a:p>
          <a:p>
            <a:pPr>
              <a:spcBef>
                <a:spcPts val="360"/>
              </a:spcBef>
            </a:pP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〮 </a:t>
            </a:r>
            <a:r>
              <a:rPr lang="en-US" altLang="ko-KR" sz="1600" b="1" spc="-1" dirty="0" err="1">
                <a:solidFill>
                  <a:srgbClr val="000000"/>
                </a:solidFill>
                <a:latin typeface="Calibri"/>
              </a:rPr>
              <a:t>filedup</a:t>
            </a: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()</a:t>
            </a:r>
          </a:p>
          <a:p>
            <a:pPr>
              <a:spcBef>
                <a:spcPts val="360"/>
              </a:spcBef>
            </a:pP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   - 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부모 프로세스의 파일을 자식프로세스에 공유</a:t>
            </a: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endParaRPr lang="en-US" altLang="ko-KR" sz="1600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〮 fork</a:t>
            </a:r>
            <a:r>
              <a:rPr lang="ko-KR" altLang="en-US" sz="1600" b="1" spc="-1" dirty="0">
                <a:solidFill>
                  <a:srgbClr val="000000"/>
                </a:solidFill>
                <a:latin typeface="Calibri"/>
              </a:rPr>
              <a:t> 특이사항</a:t>
            </a:r>
            <a:endParaRPr lang="en-US" altLang="ko-KR" sz="1600" b="1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   </a:t>
            </a:r>
            <a:r>
              <a:rPr lang="en-US" altLang="ko-KR" sz="1600" spc="-1" dirty="0">
                <a:solidFill>
                  <a:srgbClr val="000000"/>
                </a:solidFill>
                <a:latin typeface="Calibri"/>
              </a:rPr>
              <a:t>1. np-&gt;</a:t>
            </a:r>
            <a:r>
              <a:rPr lang="en-US" altLang="ko-KR" sz="1600" spc="-1" dirty="0" err="1">
                <a:solidFill>
                  <a:srgbClr val="000000"/>
                </a:solidFill>
                <a:latin typeface="Calibri"/>
              </a:rPr>
              <a:t>rt_rr</a:t>
            </a:r>
            <a:r>
              <a:rPr lang="en-US" altLang="ko-KR" sz="1600" spc="-1" dirty="0">
                <a:solidFill>
                  <a:srgbClr val="000000"/>
                </a:solidFill>
                <a:latin typeface="Calibri"/>
              </a:rPr>
              <a:t>  = 0</a:t>
            </a:r>
          </a:p>
          <a:p>
            <a:pPr>
              <a:spcBef>
                <a:spcPts val="360"/>
              </a:spcBef>
            </a:pPr>
            <a:r>
              <a:rPr lang="en-US" altLang="ko-KR" sz="1600" spc="-1" dirty="0">
                <a:solidFill>
                  <a:srgbClr val="000000"/>
                </a:solidFill>
                <a:latin typeface="Calibri"/>
              </a:rPr>
              <a:t>        - fork</a:t>
            </a:r>
            <a:r>
              <a:rPr lang="ko-KR" altLang="en-US" sz="1600" spc="-1" dirty="0">
                <a:solidFill>
                  <a:srgbClr val="000000"/>
                </a:solidFill>
                <a:latin typeface="Calibri"/>
              </a:rPr>
              <a:t>로 생성된 프로세스이기에 </a:t>
            </a:r>
            <a:r>
              <a:rPr lang="en-US" altLang="ko-KR" sz="1600" spc="-1" dirty="0">
                <a:solidFill>
                  <a:srgbClr val="000000"/>
                </a:solidFill>
                <a:latin typeface="Calibri"/>
              </a:rPr>
              <a:t>RR</a:t>
            </a:r>
            <a:r>
              <a:rPr lang="ko-KR" altLang="en-US" sz="1600" spc="-1" dirty="0">
                <a:solidFill>
                  <a:srgbClr val="000000"/>
                </a:solidFill>
                <a:latin typeface="Calibri"/>
              </a:rPr>
              <a:t>방식</a:t>
            </a:r>
            <a:endParaRPr lang="en-US" altLang="ko-KR" sz="1600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z="1600" spc="-1" dirty="0">
                <a:solidFill>
                  <a:srgbClr val="000000"/>
                </a:solidFill>
                <a:latin typeface="Calibri"/>
              </a:rPr>
              <a:t>        - Round Robin</a:t>
            </a:r>
            <a:r>
              <a:rPr lang="ko-KR" altLang="en-US" sz="1600" spc="-1" dirty="0">
                <a:solidFill>
                  <a:srgbClr val="000000"/>
                </a:solidFill>
                <a:latin typeface="Calibri"/>
              </a:rPr>
              <a:t>방식은 </a:t>
            </a:r>
            <a:r>
              <a:rPr lang="en-US" altLang="ko-KR" sz="1600" spc="-1" dirty="0">
                <a:solidFill>
                  <a:srgbClr val="000000"/>
                </a:solidFill>
                <a:latin typeface="Calibri"/>
              </a:rPr>
              <a:t>0</a:t>
            </a:r>
            <a:r>
              <a:rPr lang="ko-KR" altLang="en-US" sz="1600" spc="-1" dirty="0">
                <a:solidFill>
                  <a:srgbClr val="000000"/>
                </a:solidFill>
                <a:latin typeface="Calibri"/>
              </a:rPr>
              <a:t>으로 고정</a:t>
            </a:r>
            <a:endParaRPr lang="en-US" altLang="ko-KR" sz="1600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9A4058B-F0A8-B320-B6AC-5453D3A0C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387213"/>
            <a:ext cx="4283968" cy="4990427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2A82CF55-DC02-A149-5C88-0AF3A857ACB4}"/>
              </a:ext>
            </a:extLst>
          </p:cNvPr>
          <p:cNvSpPr/>
          <p:nvPr/>
        </p:nvSpPr>
        <p:spPr>
          <a:xfrm>
            <a:off x="314197" y="4402428"/>
            <a:ext cx="1368152" cy="288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dirty="0">
              <a:ln>
                <a:solidFill>
                  <a:srgbClr val="FF0000"/>
                </a:solidFill>
              </a:ln>
              <a:noFill/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5032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B96C5-2D68-97F0-4EE7-13128D499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DB824E-89C2-79DC-56CD-42E5133CD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/>
              <a:t>3. </a:t>
            </a:r>
            <a:r>
              <a:rPr kumimoji="1" lang="en-US" altLang="en-US" dirty="0" err="1"/>
              <a:t>fork_rt</a:t>
            </a:r>
            <a:r>
              <a:rPr kumimoji="1" lang="en-US" altLang="en-US" dirty="0"/>
              <a:t>() – Real Time</a:t>
            </a:r>
            <a:r>
              <a:rPr kumimoji="1" lang="ko-KR" altLang="en-US" dirty="0"/>
              <a:t>방식 프로세스 생성</a:t>
            </a:r>
            <a:endParaRPr kumimoji="1" lang="ko-Kore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BA1C92-06EF-43CB-DBB9-CBB7E9BC9617}"/>
              </a:ext>
            </a:extLst>
          </p:cNvPr>
          <p:cNvSpPr txBox="1"/>
          <p:nvPr/>
        </p:nvSpPr>
        <p:spPr>
          <a:xfrm>
            <a:off x="4319124" y="1412716"/>
            <a:ext cx="4933396" cy="4944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</a:pPr>
            <a:r>
              <a:rPr lang="en-US" altLang="ko-KR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&lt;</a:t>
            </a:r>
            <a:r>
              <a:rPr lang="en-US" altLang="ko-KR" sz="1800" b="1" spc="-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fork_rt</a:t>
            </a:r>
            <a:r>
              <a:rPr lang="en-US" altLang="ko-KR" sz="1800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 </a:t>
            </a:r>
            <a:r>
              <a:rPr lang="ko-KR" altLang="en-US" sz="1800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특징</a:t>
            </a:r>
            <a:r>
              <a:rPr lang="en-US" altLang="ko-KR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&gt;</a:t>
            </a:r>
          </a:p>
          <a:p>
            <a:pPr marL="285750" indent="-285750">
              <a:spcBef>
                <a:spcPts val="360"/>
              </a:spcBef>
              <a:buFontTx/>
              <a:buChar char="-"/>
            </a:pP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Fork_rt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로 생성된 프로세스는 무조건 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RT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방식</a:t>
            </a: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  <a:p>
            <a:pPr marL="285750" indent="-285750">
              <a:spcBef>
                <a:spcPts val="360"/>
              </a:spcBef>
              <a:buFontTx/>
              <a:buChar char="-"/>
            </a:pP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특정 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priority 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지정</a:t>
            </a: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  <a:p>
            <a:pPr marL="285750" indent="-285750">
              <a:spcBef>
                <a:spcPts val="360"/>
              </a:spcBef>
              <a:buFontTx/>
              <a:buChar char="-"/>
            </a:pP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Fork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와 매우 유사한 구조</a:t>
            </a: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  <a:p>
            <a:pPr marL="285750" indent="-285750">
              <a:spcBef>
                <a:spcPts val="360"/>
              </a:spcBef>
              <a:buFontTx/>
              <a:buChar char="-"/>
            </a:pPr>
            <a:endParaRPr lang="en-US" altLang="ko-KR" sz="1500" b="1" spc="-1" dirty="0">
              <a:solidFill>
                <a:srgbClr val="000000"/>
              </a:solidFill>
              <a:latin typeface="Calibri"/>
            </a:endParaRPr>
          </a:p>
          <a:p>
            <a:pPr marL="285750" indent="-285750">
              <a:spcBef>
                <a:spcPts val="360"/>
              </a:spcBef>
              <a:buFontTx/>
              <a:buChar char="-"/>
            </a:pPr>
            <a:endParaRPr lang="en-US" altLang="ko-KR" sz="1500" b="1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〮 </a:t>
            </a:r>
            <a:r>
              <a:rPr lang="en-US" altLang="ko-KR" sz="1600" b="1" spc="-1" dirty="0" err="1">
                <a:solidFill>
                  <a:srgbClr val="000000"/>
                </a:solidFill>
                <a:latin typeface="Calibri"/>
              </a:rPr>
              <a:t>fork_rt</a:t>
            </a:r>
            <a:r>
              <a:rPr lang="en-US" altLang="ko-KR" sz="1600" b="1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() </a:t>
            </a:r>
            <a:r>
              <a:rPr lang="ko-KR" altLang="en-US" sz="1600" b="1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특이사항</a:t>
            </a:r>
            <a:endParaRPr lang="en-US" altLang="ko-KR" sz="1600" b="1" spc="-1" dirty="0">
              <a:solidFill>
                <a:srgbClr val="000000"/>
              </a:solidFill>
              <a:latin typeface="Calibri"/>
              <a:ea typeface="맑은 고딕" panose="020B0503020000020004" pitchFamily="50" charset="-127"/>
            </a:endParaRPr>
          </a:p>
          <a:p>
            <a:pPr>
              <a:spcBef>
                <a:spcPts val="360"/>
              </a:spcBef>
            </a:pPr>
            <a:r>
              <a:rPr lang="en-US" altLang="ko-KR" sz="1500" b="1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  1. np-&gt;priority = priority</a:t>
            </a:r>
          </a:p>
          <a:p>
            <a:pPr>
              <a:spcBef>
                <a:spcPts val="360"/>
              </a:spcBef>
            </a:pPr>
            <a:r>
              <a:rPr lang="en-US" altLang="ko-KR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      - 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특정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우선순위 지정</a:t>
            </a:r>
            <a:endParaRPr lang="en-US" altLang="ko-KR" sz="1500" spc="-1" dirty="0">
              <a:solidFill>
                <a:srgbClr val="000000"/>
              </a:solidFill>
              <a:latin typeface="Calibri"/>
              <a:ea typeface="맑은 고딕" panose="020B0503020000020004" pitchFamily="50" charset="-127"/>
            </a:endParaRPr>
          </a:p>
          <a:p>
            <a:pPr>
              <a:spcBef>
                <a:spcPts val="360"/>
              </a:spcBef>
            </a:pPr>
            <a:endParaRPr lang="en-US" altLang="ko-KR" sz="1500" b="1" spc="-1" dirty="0">
              <a:solidFill>
                <a:srgbClr val="000000"/>
              </a:solidFill>
              <a:latin typeface="Calibri"/>
              <a:ea typeface="맑은 고딕" panose="020B0503020000020004" pitchFamily="50" charset="-127"/>
            </a:endParaRPr>
          </a:p>
          <a:p>
            <a:pPr>
              <a:spcBef>
                <a:spcPts val="360"/>
              </a:spcBef>
            </a:pPr>
            <a:r>
              <a:rPr lang="en-US" altLang="ko-KR" sz="1600" b="1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  2. np-&gt;</a:t>
            </a:r>
            <a:r>
              <a:rPr lang="en-US" altLang="ko-KR" sz="1600" b="1" spc="-1" dirty="0" err="1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rt_rr</a:t>
            </a:r>
            <a:r>
              <a:rPr lang="en-US" altLang="ko-KR" sz="1600" b="1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= 1;</a:t>
            </a:r>
          </a:p>
          <a:p>
            <a:pPr>
              <a:spcBef>
                <a:spcPts val="360"/>
              </a:spcBef>
            </a:pPr>
            <a:r>
              <a:rPr lang="en-US" altLang="ko-KR" sz="1500" b="1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      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- </a:t>
            </a:r>
            <a:r>
              <a:rPr lang="en-US" altLang="ko-KR" sz="1500" spc="-1" dirty="0" err="1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fork_rt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로 생성되었기 때문에 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REAL TIME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방식</a:t>
            </a:r>
            <a:endParaRPr lang="en-US" altLang="ko-KR" sz="1500" spc="-1" dirty="0">
              <a:solidFill>
                <a:srgbClr val="000000"/>
              </a:solidFill>
              <a:latin typeface="Calibri"/>
              <a:ea typeface="맑은 고딕" panose="020B0503020000020004" pitchFamily="50" charset="-127"/>
            </a:endParaRPr>
          </a:p>
          <a:p>
            <a:pPr>
              <a:spcBef>
                <a:spcPts val="360"/>
              </a:spcBef>
            </a:pPr>
            <a:r>
              <a:rPr lang="en-US" altLang="ko-KR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      - REAL TIME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방식은 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1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로 고정</a:t>
            </a:r>
            <a:endParaRPr lang="en-US" altLang="ko-KR" sz="1500" spc="-1" dirty="0">
              <a:solidFill>
                <a:srgbClr val="000000"/>
              </a:solidFill>
              <a:latin typeface="Calibri"/>
              <a:ea typeface="맑은 고딕" panose="020B0503020000020004" pitchFamily="50" charset="-127"/>
            </a:endParaRPr>
          </a:p>
          <a:p>
            <a:pPr>
              <a:spcBef>
                <a:spcPts val="360"/>
              </a:spcBef>
            </a:pPr>
            <a:endParaRPr lang="en-US" altLang="ko-KR" sz="1600" b="1" spc="-1" dirty="0">
              <a:solidFill>
                <a:srgbClr val="000000"/>
              </a:solidFill>
              <a:latin typeface="Calibri"/>
              <a:ea typeface="맑은 고딕" panose="020B0503020000020004" pitchFamily="50" charset="-127"/>
            </a:endParaRPr>
          </a:p>
          <a:p>
            <a:pPr>
              <a:spcBef>
                <a:spcPts val="360"/>
              </a:spcBef>
            </a:pPr>
            <a:r>
              <a:rPr lang="en-US" altLang="ko-KR" sz="1600" b="1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  3. yield()</a:t>
            </a:r>
          </a:p>
          <a:p>
            <a:pPr>
              <a:spcBef>
                <a:spcPts val="360"/>
              </a:spcBef>
            </a:pPr>
            <a:r>
              <a:rPr lang="en-US" altLang="ko-KR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      -  RR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방식과 다르게 우선순위가 높은 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process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먼저 실행</a:t>
            </a:r>
            <a:endParaRPr lang="en-US" altLang="ko-KR" sz="1500" spc="-1" dirty="0">
              <a:solidFill>
                <a:srgbClr val="000000"/>
              </a:solidFill>
              <a:latin typeface="Calibri"/>
              <a:ea typeface="맑은 고딕" panose="020B0503020000020004" pitchFamily="50" charset="-127"/>
            </a:endParaRPr>
          </a:p>
          <a:p>
            <a:pPr>
              <a:spcBef>
                <a:spcPts val="360"/>
              </a:spcBef>
            </a:pPr>
            <a:r>
              <a:rPr lang="en-US" altLang="ko-KR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      - 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생성 즉시 스케줄러 개입하여 우선순위 순으로 실행</a:t>
            </a:r>
            <a:endParaRPr lang="en-US" altLang="ko-KR" sz="1500" spc="-1" dirty="0">
              <a:solidFill>
                <a:srgbClr val="000000"/>
              </a:solidFill>
              <a:latin typeface="Calibri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7CB80F6-87FE-CADF-21FD-D42739014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417638"/>
            <a:ext cx="4063141" cy="5013176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5F3BEDA5-EC28-19EE-1D79-62FD2BC6F386}"/>
              </a:ext>
            </a:extLst>
          </p:cNvPr>
          <p:cNvSpPr/>
          <p:nvPr/>
        </p:nvSpPr>
        <p:spPr>
          <a:xfrm>
            <a:off x="355844" y="4181935"/>
            <a:ext cx="1656184" cy="3600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dirty="0">
              <a:ln>
                <a:solidFill>
                  <a:srgbClr val="FF0000"/>
                </a:solidFill>
              </a:ln>
              <a:noFill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F03ED89-AA06-D325-F823-A2D1E3678C40}"/>
              </a:ext>
            </a:extLst>
          </p:cNvPr>
          <p:cNvSpPr/>
          <p:nvPr/>
        </p:nvSpPr>
        <p:spPr>
          <a:xfrm>
            <a:off x="355844" y="6026150"/>
            <a:ext cx="648072" cy="1440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dirty="0">
              <a:ln>
                <a:solidFill>
                  <a:srgbClr val="FF0000"/>
                </a:solidFill>
              </a:ln>
              <a:noFill/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566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CE4E44-EA36-A6C2-D944-EBE451225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/>
              <a:t>4. scheduler(void) - rt</a:t>
            </a:r>
            <a:r>
              <a:rPr kumimoji="1" lang="ko-KR" altLang="en-US" dirty="0"/>
              <a:t>가 우선적으로 시행되도록 구현</a:t>
            </a:r>
            <a:endParaRPr kumimoji="1" lang="ko-Kore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87F90A-ED12-937F-731F-1E16B4FD2F57}"/>
              </a:ext>
            </a:extLst>
          </p:cNvPr>
          <p:cNvSpPr txBox="1"/>
          <p:nvPr/>
        </p:nvSpPr>
        <p:spPr>
          <a:xfrm>
            <a:off x="4955672" y="1538780"/>
            <a:ext cx="5293436" cy="4693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</a:pPr>
            <a:r>
              <a:rPr lang="en-US" altLang="ko-KR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&lt;scheduler</a:t>
            </a:r>
            <a:r>
              <a:rPr lang="en-US" altLang="ko-KR" sz="1800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 </a:t>
            </a:r>
            <a:r>
              <a:rPr lang="ko-KR" altLang="en-US" sz="1800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특징</a:t>
            </a:r>
            <a:r>
              <a:rPr lang="en-US" altLang="ko-KR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&gt;</a:t>
            </a:r>
          </a:p>
          <a:p>
            <a:pPr marL="285750" indent="-285750">
              <a:spcBef>
                <a:spcPts val="360"/>
              </a:spcBef>
              <a:buFontTx/>
              <a:buChar char="-"/>
            </a:pP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Check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변수를 활용하여 무조건 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RT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먼저 실행</a:t>
            </a: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endParaRPr lang="en-US" altLang="ko-KR" sz="1500" b="1" spc="-1" dirty="0">
              <a:solidFill>
                <a:srgbClr val="000000"/>
              </a:solidFill>
              <a:latin typeface="Calibri"/>
            </a:endParaRPr>
          </a:p>
          <a:p>
            <a:pPr marL="285750" indent="-285750">
              <a:spcBef>
                <a:spcPts val="360"/>
              </a:spcBef>
              <a:buFontTx/>
              <a:buChar char="-"/>
            </a:pPr>
            <a:endParaRPr lang="en-US" altLang="ko-KR" sz="1500" b="1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 〮 REALTIME PROCESS </a:t>
            </a:r>
            <a:r>
              <a:rPr lang="ko-KR" altLang="en-US" sz="1600" b="1" spc="-1" dirty="0">
                <a:solidFill>
                  <a:srgbClr val="000000"/>
                </a:solidFill>
                <a:latin typeface="Calibri"/>
              </a:rPr>
              <a:t>존재할 경우</a:t>
            </a:r>
            <a:endParaRPr lang="en-US" altLang="ko-KR" sz="1600" b="1" spc="-1" dirty="0">
              <a:solidFill>
                <a:srgbClr val="000000"/>
              </a:solidFill>
              <a:latin typeface="Calibri"/>
              <a:ea typeface="맑은 고딕" panose="020B0503020000020004" pitchFamily="50" charset="-127"/>
            </a:endParaRPr>
          </a:p>
          <a:p>
            <a:pPr>
              <a:spcBef>
                <a:spcPts val="360"/>
              </a:spcBef>
            </a:pPr>
            <a:r>
              <a:rPr lang="en-US" altLang="ko-KR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  1. 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우선순위가 높은 값을 저장</a:t>
            </a:r>
            <a:endParaRPr lang="en-US" altLang="ko-KR" sz="1500" spc="-1" dirty="0">
              <a:solidFill>
                <a:srgbClr val="000000"/>
              </a:solidFill>
              <a:latin typeface="Calibri"/>
              <a:ea typeface="맑은 고딕" panose="020B0503020000020004" pitchFamily="50" charset="-127"/>
            </a:endParaRPr>
          </a:p>
          <a:p>
            <a:pPr>
              <a:spcBef>
                <a:spcPts val="360"/>
              </a:spcBef>
            </a:pPr>
            <a:r>
              <a:rPr lang="en-US" altLang="ko-KR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  2. check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= 1 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로 설정하여 추후에  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RT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만 실행 가능</a:t>
            </a:r>
            <a:endParaRPr lang="en-US" altLang="ko-KR" sz="1500" spc="-1" dirty="0">
              <a:solidFill>
                <a:srgbClr val="000000"/>
              </a:solidFill>
              <a:latin typeface="Calibri"/>
              <a:ea typeface="맑은 고딕" panose="020B0503020000020004" pitchFamily="50" charset="-127"/>
            </a:endParaRPr>
          </a:p>
          <a:p>
            <a:pPr>
              <a:spcBef>
                <a:spcPts val="360"/>
              </a:spcBef>
            </a:pPr>
            <a:endParaRPr lang="en-US" altLang="ko-KR" sz="1600" b="1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 〮 REALTIME PROCESS</a:t>
            </a:r>
            <a:r>
              <a:rPr lang="ko-KR" altLang="en-US" sz="1600" b="1" spc="-1" dirty="0">
                <a:solidFill>
                  <a:srgbClr val="000000"/>
                </a:solidFill>
                <a:latin typeface="Calibri"/>
              </a:rPr>
              <a:t>가 없었을 경우</a:t>
            </a:r>
            <a:endParaRPr lang="en-US" altLang="ko-KR" sz="1600" b="1" spc="-1" dirty="0">
              <a:solidFill>
                <a:srgbClr val="000000"/>
              </a:solidFill>
              <a:latin typeface="Calibri"/>
              <a:ea typeface="맑은 고딕" panose="020B0503020000020004" pitchFamily="50" charset="-127"/>
            </a:endParaRPr>
          </a:p>
          <a:p>
            <a:pPr>
              <a:spcBef>
                <a:spcPts val="360"/>
              </a:spcBef>
            </a:pPr>
            <a:r>
              <a:rPr lang="en-US" altLang="ko-KR" sz="16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  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1. check = 0 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설정하여 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RR 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실행</a:t>
            </a:r>
            <a:endParaRPr lang="en-US" altLang="ko-KR" sz="1500" spc="-1" dirty="0">
              <a:solidFill>
                <a:srgbClr val="000000"/>
              </a:solidFill>
              <a:latin typeface="Calibri"/>
              <a:ea typeface="맑은 고딕" panose="020B0503020000020004" pitchFamily="50" charset="-127"/>
            </a:endParaRPr>
          </a:p>
          <a:p>
            <a:pPr>
              <a:spcBef>
                <a:spcPts val="360"/>
              </a:spcBef>
            </a:pPr>
            <a:r>
              <a:rPr lang="en-US" altLang="ko-KR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  2. RUNNABLE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한 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RR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방식 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process priority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값 저장</a:t>
            </a:r>
            <a:endParaRPr lang="en-US" altLang="ko-KR" sz="1500" spc="-1" dirty="0">
              <a:solidFill>
                <a:srgbClr val="000000"/>
              </a:solidFill>
              <a:latin typeface="Calibri"/>
              <a:ea typeface="맑은 고딕" panose="020B0503020000020004" pitchFamily="50" charset="-127"/>
            </a:endParaRPr>
          </a:p>
          <a:p>
            <a:pPr>
              <a:spcBef>
                <a:spcPts val="360"/>
              </a:spcBef>
            </a:pPr>
            <a:r>
              <a:rPr lang="en-US" altLang="ko-KR" sz="1600" b="1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  </a:t>
            </a:r>
          </a:p>
          <a:p>
            <a:pPr>
              <a:spcBef>
                <a:spcPts val="360"/>
              </a:spcBef>
            </a:pP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 〮 RT process</a:t>
            </a:r>
            <a:r>
              <a:rPr lang="ko-KR" altLang="en-US" sz="1600" b="1" spc="-1" dirty="0">
                <a:solidFill>
                  <a:srgbClr val="000000"/>
                </a:solidFill>
                <a:latin typeface="Calibri"/>
              </a:rPr>
              <a:t>혹은 </a:t>
            </a: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RR process </a:t>
            </a:r>
            <a:r>
              <a:rPr lang="ko-KR" altLang="en-US" sz="1600" b="1" spc="-1" dirty="0">
                <a:solidFill>
                  <a:srgbClr val="000000"/>
                </a:solidFill>
                <a:latin typeface="Calibri"/>
              </a:rPr>
              <a:t>직접 실행단계</a:t>
            </a:r>
            <a:endParaRPr lang="en-US" altLang="ko-KR" sz="1600" b="1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   1. 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상태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, 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우선순위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, check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값을 기반으로 </a:t>
            </a:r>
            <a:endParaRPr lang="en-US" altLang="ko-KR" sz="1500" spc="-1" dirty="0">
              <a:solidFill>
                <a:srgbClr val="000000"/>
              </a:solidFill>
              <a:latin typeface="Calibri"/>
              <a:ea typeface="맑은 고딕" panose="020B0503020000020004" pitchFamily="50" charset="-127"/>
            </a:endParaRPr>
          </a:p>
          <a:p>
            <a:pPr>
              <a:spcBef>
                <a:spcPts val="360"/>
              </a:spcBef>
            </a:pPr>
            <a:r>
              <a:rPr lang="ko-KR" altLang="en-US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본격적인 스케줄링 시행</a:t>
            </a:r>
            <a:endParaRPr lang="en-US" altLang="ko-KR" sz="1500" spc="-1" dirty="0">
              <a:solidFill>
                <a:srgbClr val="000000"/>
              </a:solidFill>
              <a:latin typeface="Calibri"/>
              <a:ea typeface="맑은 고딕" panose="020B0503020000020004" pitchFamily="50" charset="-127"/>
            </a:endParaRPr>
          </a:p>
          <a:p>
            <a:pPr>
              <a:spcBef>
                <a:spcPts val="360"/>
              </a:spcBef>
            </a:pPr>
            <a:endParaRPr lang="en-US" altLang="ko-KR" sz="1500" spc="-1" dirty="0">
              <a:solidFill>
                <a:srgbClr val="000000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21" name="오른쪽 중괄호 20">
            <a:extLst>
              <a:ext uri="{FF2B5EF4-FFF2-40B4-BE49-F238E27FC236}">
                <a16:creationId xmlns:a16="http://schemas.microsoft.com/office/drawing/2014/main" id="{39FF8601-129F-4787-E4E9-C24B34E36216}"/>
              </a:ext>
            </a:extLst>
          </p:cNvPr>
          <p:cNvSpPr/>
          <p:nvPr/>
        </p:nvSpPr>
        <p:spPr>
          <a:xfrm>
            <a:off x="4788024" y="2708920"/>
            <a:ext cx="180020" cy="792088"/>
          </a:xfrm>
          <a:prstGeom prst="rightBrace">
            <a:avLst>
              <a:gd name="adj1" fmla="val 8333"/>
              <a:gd name="adj2" fmla="val 18195"/>
            </a:avLst>
          </a:prstGeom>
          <a:noFill/>
          <a:ln w="1905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4" name="오른쪽 중괄호 23">
            <a:extLst>
              <a:ext uri="{FF2B5EF4-FFF2-40B4-BE49-F238E27FC236}">
                <a16:creationId xmlns:a16="http://schemas.microsoft.com/office/drawing/2014/main" id="{4FB9EC1C-88BB-374A-8A3B-1DD47385C5C2}"/>
              </a:ext>
            </a:extLst>
          </p:cNvPr>
          <p:cNvSpPr/>
          <p:nvPr/>
        </p:nvSpPr>
        <p:spPr>
          <a:xfrm>
            <a:off x="4788024" y="3603448"/>
            <a:ext cx="180020" cy="977680"/>
          </a:xfrm>
          <a:prstGeom prst="rightBrace">
            <a:avLst>
              <a:gd name="adj1" fmla="val 8333"/>
              <a:gd name="adj2" fmla="val 41127"/>
            </a:avLst>
          </a:prstGeom>
          <a:noFill/>
          <a:ln w="1905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64DC7E47-2399-24BB-9D57-A732A96CD4BF}"/>
              </a:ext>
            </a:extLst>
          </p:cNvPr>
          <p:cNvGrpSpPr/>
          <p:nvPr/>
        </p:nvGrpSpPr>
        <p:grpSpPr>
          <a:xfrm>
            <a:off x="179512" y="1271359"/>
            <a:ext cx="4572508" cy="5366390"/>
            <a:chOff x="-138076" y="44624"/>
            <a:chExt cx="5730320" cy="6885664"/>
          </a:xfrm>
        </p:grpSpPr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5A554593-DC98-E4EC-1A7B-B56C645694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38076" y="44624"/>
              <a:ext cx="5730320" cy="4293376"/>
            </a:xfrm>
            <a:prstGeom prst="rect">
              <a:avLst/>
            </a:prstGeom>
          </p:spPr>
        </p:pic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003B3A85-331C-E78D-0921-50D0419D1B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38076" y="4338000"/>
              <a:ext cx="5730320" cy="2592288"/>
            </a:xfrm>
            <a:prstGeom prst="rect">
              <a:avLst/>
            </a:prstGeom>
          </p:spPr>
        </p:pic>
      </p:grpSp>
      <p:sp>
        <p:nvSpPr>
          <p:cNvPr id="32" name="오른쪽 중괄호 31">
            <a:extLst>
              <a:ext uri="{FF2B5EF4-FFF2-40B4-BE49-F238E27FC236}">
                <a16:creationId xmlns:a16="http://schemas.microsoft.com/office/drawing/2014/main" id="{84F47875-7EA2-0521-B0D1-A3533EC59983}"/>
              </a:ext>
            </a:extLst>
          </p:cNvPr>
          <p:cNvSpPr/>
          <p:nvPr/>
        </p:nvSpPr>
        <p:spPr>
          <a:xfrm>
            <a:off x="4788024" y="4649910"/>
            <a:ext cx="180020" cy="1515394"/>
          </a:xfrm>
          <a:prstGeom prst="rightBrace">
            <a:avLst>
              <a:gd name="adj1" fmla="val 8333"/>
              <a:gd name="adj2" fmla="val 33831"/>
            </a:avLst>
          </a:prstGeom>
          <a:noFill/>
          <a:ln w="1905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2670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88048-5BD2-90C8-8A5B-F9C12C93C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15BC5A-3A1A-A200-07FC-0420318AE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/>
              <a:t>5. Additional feature – aging </a:t>
            </a:r>
            <a:r>
              <a:rPr kumimoji="1" lang="ko-KR" altLang="en-US" dirty="0"/>
              <a:t>기법</a:t>
            </a:r>
            <a:endParaRPr kumimoji="1" lang="ko-Kore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AEA511-4A9A-734E-17E4-52076AB2653F}"/>
              </a:ext>
            </a:extLst>
          </p:cNvPr>
          <p:cNvSpPr txBox="1"/>
          <p:nvPr/>
        </p:nvSpPr>
        <p:spPr>
          <a:xfrm>
            <a:off x="773154" y="1171099"/>
            <a:ext cx="5671054" cy="933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</a:pPr>
            <a:r>
              <a:rPr lang="en-US" altLang="ko-KR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&lt;</a:t>
            </a:r>
            <a:r>
              <a:rPr lang="ko-KR" altLang="en-US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현재 </a:t>
            </a:r>
            <a:r>
              <a:rPr lang="en-US" altLang="ko-KR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scheduler</a:t>
            </a:r>
            <a:r>
              <a:rPr lang="en-US" altLang="ko-KR" sz="1800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 </a:t>
            </a:r>
            <a:r>
              <a:rPr lang="ko-KR" altLang="en-US" sz="1800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특징</a:t>
            </a:r>
            <a:r>
              <a:rPr lang="en-US" altLang="ko-KR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&gt;</a:t>
            </a:r>
          </a:p>
          <a:p>
            <a:pPr>
              <a:spcBef>
                <a:spcPts val="360"/>
              </a:spcBef>
            </a:pPr>
            <a:r>
              <a:rPr lang="en-US" altLang="ko-KR" sz="1500" b="1" spc="-1" dirty="0">
                <a:solidFill>
                  <a:srgbClr val="000000"/>
                </a:solidFill>
                <a:latin typeface="Calibri"/>
              </a:rPr>
              <a:t>  〮 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무조건적으로 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RT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를 우선으로 실행</a:t>
            </a: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z="1400" b="1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altLang="ko-KR" sz="1500" b="1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〮 Rt process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가 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매우 많을 경우 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fork()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로 생성된 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process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는 선정 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X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CBF84D1-CD6F-08AB-43BF-FE0192628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904" y="2343531"/>
            <a:ext cx="1728192" cy="423983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0FF2A65-45EE-8584-3DE1-D7279EC681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099" y="2343531"/>
            <a:ext cx="1584176" cy="4258220"/>
          </a:xfrm>
          <a:prstGeom prst="rect">
            <a:avLst/>
          </a:prstGeom>
        </p:spPr>
      </p:pic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8A9D9DB6-A461-A8DA-84E9-501221649DE7}"/>
              </a:ext>
            </a:extLst>
          </p:cNvPr>
          <p:cNvSpPr/>
          <p:nvPr/>
        </p:nvSpPr>
        <p:spPr>
          <a:xfrm>
            <a:off x="2259291" y="4056950"/>
            <a:ext cx="1296144" cy="794604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40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기아현상</a:t>
            </a:r>
            <a:endParaRPr lang="ko-KR" altLang="en-US" sz="14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AE522D-993E-5997-5C10-793A58872D41}"/>
              </a:ext>
            </a:extLst>
          </p:cNvPr>
          <p:cNvSpPr txBox="1"/>
          <p:nvPr/>
        </p:nvSpPr>
        <p:spPr>
          <a:xfrm>
            <a:off x="5580112" y="2564661"/>
            <a:ext cx="3672408" cy="3462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</a:pPr>
            <a:r>
              <a:rPr lang="en-US" altLang="ko-KR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&lt;aging </a:t>
            </a:r>
            <a:r>
              <a:rPr lang="ko-KR" altLang="en-US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기법</a:t>
            </a:r>
            <a:r>
              <a:rPr lang="en-US" altLang="ko-KR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&gt;</a:t>
            </a:r>
          </a:p>
          <a:p>
            <a:pPr marL="342900" indent="-342900">
              <a:spcBef>
                <a:spcPts val="360"/>
              </a:spcBef>
              <a:buAutoNum type="arabicPeriod"/>
            </a:pP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특정 프로세스의 우선순위가 낮아</a:t>
            </a: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spcBef>
                <a:spcPts val="360"/>
              </a:spcBef>
              <a:buAutoNum type="arabicPeriod"/>
            </a:pP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무한정 기다리는 경우 발생</a:t>
            </a: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spcBef>
                <a:spcPts val="360"/>
              </a:spcBef>
              <a:buAutoNum type="arabicPeriod"/>
            </a:pP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일정시간이 지나면 우선순위 높여 줌</a:t>
            </a: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&lt;aging</a:t>
            </a:r>
            <a:r>
              <a:rPr lang="ko-KR" altLang="en-US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기법 적용 방식</a:t>
            </a:r>
            <a:r>
              <a:rPr lang="en-US" altLang="ko-KR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&gt;</a:t>
            </a:r>
          </a:p>
          <a:p>
            <a:pPr marL="285750" indent="-285750">
              <a:spcBef>
                <a:spcPts val="360"/>
              </a:spcBef>
              <a:buFontTx/>
              <a:buChar char="-"/>
            </a:pP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현재 스케줄링은 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RT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를 먼저 실행</a:t>
            </a: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  <a:p>
            <a:pPr marL="285750" indent="-285750">
              <a:spcBef>
                <a:spcPts val="360"/>
              </a:spcBef>
              <a:buFontTx/>
              <a:buChar char="-"/>
            </a:pP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RR 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방식의 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PROCESS 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우선순위를 높여도 의미 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X</a:t>
            </a:r>
          </a:p>
          <a:p>
            <a:pPr marL="285750" indent="-285750">
              <a:spcBef>
                <a:spcPts val="360"/>
              </a:spcBef>
              <a:buFontTx/>
              <a:buChar char="-"/>
            </a:pP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일정시간 지나면 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RT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방식 프로세스를 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RR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방식으로 강등</a:t>
            </a: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endParaRPr lang="en-US" altLang="ko-KR" b="1" spc="-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25661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6D94E-314A-1122-EC82-5DF99A84F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F3554B-6C57-F688-F517-38AF0B828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/>
              <a:t>5. Additional feature –  </a:t>
            </a:r>
            <a:r>
              <a:rPr kumimoji="1" lang="en-US" altLang="en-US" dirty="0" err="1"/>
              <a:t>trap.c</a:t>
            </a:r>
            <a:endParaRPr kumimoji="1" lang="ko-Kore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F55E91-02CF-66ED-AC6B-297D6CD81A42}"/>
              </a:ext>
            </a:extLst>
          </p:cNvPr>
          <p:cNvSpPr txBox="1"/>
          <p:nvPr/>
        </p:nvSpPr>
        <p:spPr>
          <a:xfrm>
            <a:off x="457200" y="1196752"/>
            <a:ext cx="6923112" cy="3036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</a:pPr>
            <a:r>
              <a:rPr lang="en-US" altLang="ko-KR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&lt;</a:t>
            </a:r>
            <a:r>
              <a:rPr lang="en-US" altLang="ko-KR" b="1" spc="-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trap.c</a:t>
            </a:r>
            <a:r>
              <a:rPr lang="en-US" altLang="ko-KR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 </a:t>
            </a:r>
            <a:r>
              <a:rPr lang="ko-KR" altLang="en-US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변경 이유</a:t>
            </a:r>
            <a:r>
              <a:rPr lang="en-US" altLang="ko-KR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&gt;</a:t>
            </a:r>
          </a:p>
          <a:p>
            <a:pPr marL="342900" indent="-342900">
              <a:spcBef>
                <a:spcPts val="360"/>
              </a:spcBef>
              <a:buAutoNum type="arabicPeriod"/>
            </a:pPr>
            <a:r>
              <a:rPr lang="en-US" altLang="ko-KR" sz="1500" spc="-1" dirty="0" err="1">
                <a:solidFill>
                  <a:srgbClr val="000000"/>
                </a:solidFill>
                <a:latin typeface="Calibri"/>
              </a:rPr>
              <a:t>aging_time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을 정기적으로 늘려줄 수 있는 부분은 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trap handler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의 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timer interrupt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라고 판단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  </a:t>
            </a: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spcBef>
                <a:spcPts val="360"/>
              </a:spcBef>
              <a:buAutoNum type="arabicPeriod"/>
            </a:pP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spcBef>
                <a:spcPts val="360"/>
              </a:spcBef>
              <a:buAutoNum type="arabicPeriod"/>
            </a:pP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각 프로세스마다 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np-&gt;</a:t>
            </a:r>
            <a:r>
              <a:rPr lang="en-US" altLang="ko-KR" sz="1500" spc="-1" dirty="0" err="1">
                <a:solidFill>
                  <a:srgbClr val="000000"/>
                </a:solidFill>
                <a:latin typeface="Calibri"/>
              </a:rPr>
              <a:t>aging_time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 = 0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으로 설정하여 이전의 </a:t>
            </a:r>
            <a:r>
              <a:rPr lang="en-US" altLang="ko-KR" sz="1500" spc="-1" dirty="0" err="1">
                <a:solidFill>
                  <a:srgbClr val="000000"/>
                </a:solidFill>
                <a:latin typeface="Calibri"/>
              </a:rPr>
              <a:t>aging_time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의 누적 값이 전달되지 않도록 함</a:t>
            </a: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spcBef>
                <a:spcPts val="360"/>
              </a:spcBef>
              <a:buAutoNum type="arabicPeriod"/>
            </a:pP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spcBef>
                <a:spcPts val="360"/>
              </a:spcBef>
              <a:buAutoNum type="arabicPeriod"/>
            </a:pPr>
            <a:r>
              <a:rPr lang="en-US" altLang="ko-KR" sz="1500" spc="-1" dirty="0" err="1">
                <a:solidFill>
                  <a:srgbClr val="000000"/>
                </a:solidFill>
                <a:latin typeface="Calibri"/>
              </a:rPr>
              <a:t>aging_time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은 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rt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실행시에만 증가시킴 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+ 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altLang="ko-KR" sz="1500" spc="-1" dirty="0" err="1">
                <a:solidFill>
                  <a:srgbClr val="000000"/>
                </a:solidFill>
                <a:latin typeface="Calibri"/>
              </a:rPr>
              <a:t>aging_time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 100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을 초과하면 강등되도록 구현</a:t>
            </a: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spcBef>
                <a:spcPts val="360"/>
              </a:spcBef>
              <a:buAutoNum type="arabicPeriod"/>
            </a:pP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spcBef>
                <a:spcPts val="360"/>
              </a:spcBef>
              <a:buAutoNum type="arabicPeriod"/>
            </a:pP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7B99CE5-A6CA-1EBF-6D45-56F2ED19B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80" y="3573016"/>
            <a:ext cx="5616624" cy="313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021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4A4B8-5A7E-7521-558F-653C54247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754EE2-086F-3781-2705-AE3DB3962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/>
              <a:t>5. Additional test case</a:t>
            </a:r>
            <a:endParaRPr kumimoji="1" lang="ko-Kore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AACFEF5-5F02-093D-1641-56C440AF5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066" y="1309538"/>
            <a:ext cx="3472400" cy="5273824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59A3436A-E7E1-2335-B7F6-7ED8EC2531FB}"/>
              </a:ext>
            </a:extLst>
          </p:cNvPr>
          <p:cNvGrpSpPr/>
          <p:nvPr/>
        </p:nvGrpSpPr>
        <p:grpSpPr>
          <a:xfrm>
            <a:off x="251520" y="1435083"/>
            <a:ext cx="3744416" cy="4752528"/>
            <a:chOff x="179512" y="2325142"/>
            <a:chExt cx="3310330" cy="4258221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10C9E0E0-A20C-85C5-CE61-8F4D2B6223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54154" y="2325143"/>
              <a:ext cx="1735688" cy="4258220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C77972CF-D05F-2ADF-A3C6-2646C6978CA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9512" y="2325142"/>
              <a:ext cx="1584176" cy="4258220"/>
            </a:xfrm>
            <a:prstGeom prst="rect">
              <a:avLst/>
            </a:prstGeom>
          </p:spPr>
        </p:pic>
      </p:grp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59DB9473-12D2-03EF-4507-F2CF22BB51E8}"/>
              </a:ext>
            </a:extLst>
          </p:cNvPr>
          <p:cNvSpPr/>
          <p:nvPr/>
        </p:nvSpPr>
        <p:spPr>
          <a:xfrm>
            <a:off x="4283968" y="3717032"/>
            <a:ext cx="504056" cy="576064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5324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265E2-D7E1-306B-80CF-CF0765A9E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A2873A-E07C-6E33-41E3-9445E1DF0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/>
              <a:t>5. Original test case</a:t>
            </a:r>
            <a:endParaRPr kumimoji="1" lang="ko-Kore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32202B0-F209-BD44-826B-93311929A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4508" y="1402483"/>
            <a:ext cx="3052343" cy="533457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E3CA3DB7-8AA4-6699-19F2-19FADBA849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1720" y="1311850"/>
            <a:ext cx="1648268" cy="544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472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D3C30-B279-643F-FF15-9B81F70DA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192C35-BC5D-4D89-5F05-106DA8BF5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/>
              <a:t>5. Original test case</a:t>
            </a:r>
            <a:endParaRPr kumimoji="1" lang="ko-Kore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ABBC0DE-F175-39AC-5700-37C1DD5CCE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0072" y="1236241"/>
            <a:ext cx="2808312" cy="542588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879C429-6A58-7B2A-0EF6-6F94B4A796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84" y="1236241"/>
            <a:ext cx="2808312" cy="5425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784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67202-373D-BC4B-0652-CF41CB579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0CE749-437E-CFA6-3F1A-511E65403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/>
              <a:t>5. Original test case</a:t>
            </a:r>
            <a:endParaRPr kumimoji="1" lang="ko-Kore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91B9B82F-3766-EB4A-2DB3-88A8190554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088" y="1146545"/>
            <a:ext cx="2664296" cy="560526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8D0328E-7C05-CAD7-3C05-52F75E004F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84" y="1146547"/>
            <a:ext cx="4025955" cy="560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461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1027" name="Picture 3" descr="C:\Users\Kilho Lee\Dropbox\Research documents\Lab_misc\연구실로고\MISYS 세로-컬러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6176" y="2276872"/>
            <a:ext cx="2195944" cy="1763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6548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28575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400" dirty="0" smtClean="0">
            <a:solidFill>
              <a:schemeClr val="tx1"/>
            </a:solidFill>
            <a:latin typeface="Calibri" pitchFamily="34" charset="0"/>
            <a:cs typeface="Calibri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rgbClr val="0D0D0D"/>
          </a:solidFill>
          <a:prstDash val="solid"/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2422</TotalTime>
  <Words>632</Words>
  <Application>Microsoft Office PowerPoint</Application>
  <PresentationFormat>화면 슬라이드 쇼(4:3)</PresentationFormat>
  <Paragraphs>110</Paragraphs>
  <Slides>13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맑은 고딕</vt:lpstr>
      <vt:lpstr>Arial</vt:lpstr>
      <vt:lpstr>Calibri</vt:lpstr>
      <vt:lpstr>Office 테마</vt:lpstr>
      <vt:lpstr>XV6_scheduler_v2  (c) P#1 Progress Report 2025.07.29</vt:lpstr>
      <vt:lpstr>Outline</vt:lpstr>
      <vt:lpstr>1. PCB structure</vt:lpstr>
      <vt:lpstr>2. fork() – Roung Robin방식 프로세스 생성</vt:lpstr>
      <vt:lpstr>3. fork_rt() – Real Time방식 프로세스 생성</vt:lpstr>
      <vt:lpstr>4. scheduler(void) - rt가 우선적으로 시행되도록 구현</vt:lpstr>
      <vt:lpstr>5. Additional feature – aging 기법</vt:lpstr>
      <vt:lpstr>5. Additional feature –  trap.c</vt:lpstr>
      <vt:lpstr>5. Additional test case</vt:lpstr>
      <vt:lpstr>5. Original test case</vt:lpstr>
      <vt:lpstr>5. Original test case</vt:lpstr>
      <vt:lpstr>5. Original test case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</dc:creator>
  <cp:lastModifiedBy>김찬형</cp:lastModifiedBy>
  <cp:revision>33</cp:revision>
  <dcterms:created xsi:type="dcterms:W3CDTF">2022-07-04T05:58:26Z</dcterms:created>
  <dcterms:modified xsi:type="dcterms:W3CDTF">2025-07-29T06:38:32Z</dcterms:modified>
</cp:coreProperties>
</file>