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604" r:id="rId3"/>
    <p:sldId id="682" r:id="rId4"/>
    <p:sldId id="686" r:id="rId5"/>
    <p:sldId id="693" r:id="rId6"/>
    <p:sldId id="669" r:id="rId7"/>
    <p:sldId id="697" r:id="rId8"/>
    <p:sldId id="694" r:id="rId9"/>
    <p:sldId id="698" r:id="rId10"/>
    <p:sldId id="695" r:id="rId11"/>
    <p:sldId id="699" r:id="rId12"/>
    <p:sldId id="700" r:id="rId13"/>
    <p:sldId id="603" r:id="rId14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F3300"/>
    <a:srgbClr val="CC3300"/>
    <a:srgbClr val="BFBFBF"/>
    <a:srgbClr val="FDE8BF"/>
    <a:srgbClr val="3988A1"/>
    <a:srgbClr val="0D0D0D"/>
    <a:srgbClr val="F9C5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3212" autoAdjust="0"/>
  </p:normalViewPr>
  <p:slideViewPr>
    <p:cSldViewPr>
      <p:cViewPr varScale="1">
        <p:scale>
          <a:sx n="80" d="100"/>
          <a:sy n="80" d="100"/>
        </p:scale>
        <p:origin x="96" y="5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60" y="422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080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A35B8F-D6B8-4B1A-BED5-DBBA10E46047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B4096-A3A2-4F30-BA97-9793FEF49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347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315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6630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666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2BDCD-B4B6-C8B1-4473-07B0165BE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247B26-AAEF-6C80-3A70-BFFA4A569C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F867B1-CEFF-4EB4-DCD1-21FF2C458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F0459B-6D41-CDE8-F810-1C7B2CE91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470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F5AF7-00A8-E1B4-6E23-976F95370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C85808-DDC7-3171-3E23-57B8BDF117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FE40C7-0C90-0F3C-9966-C9B55BBF0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878EFB-16C9-EFD4-866D-109CF325C3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461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30"/>
            <a:ext cx="7772400" cy="1470025"/>
          </a:xfrm>
        </p:spPr>
        <p:txBody>
          <a:bodyPr>
            <a:normAutofit/>
          </a:bodyPr>
          <a:lstStyle>
            <a:lvl1pPr algn="r">
              <a:defRPr sz="3200">
                <a:latin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9644B-26F1-4A77-80B4-864CA05B8475}" type="datetime1">
              <a:rPr lang="ko-KR" altLang="en-US" smtClean="0"/>
              <a:t>2025-07-29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9412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>
                <a:latin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 sz="1600">
                <a:latin typeface="Calibri" panose="020F0502020204030204" pitchFamily="34" charset="0"/>
                <a:cs typeface="Times New Roman" panose="02020603050405020304" pitchFamily="18" charset="0"/>
              </a:defRPr>
            </a:lvl2pPr>
            <a:lvl3pPr>
              <a:defRPr sz="1400">
                <a:latin typeface="Calibri" panose="020F0502020204030204" pitchFamily="34" charset="0"/>
                <a:cs typeface="Times New Roman" panose="02020603050405020304" pitchFamily="18" charset="0"/>
              </a:defRPr>
            </a:lvl3pPr>
            <a:lvl4pPr>
              <a:defRPr sz="1200">
                <a:latin typeface="Calibri" panose="020F0502020204030204" pitchFamily="34" charset="0"/>
                <a:cs typeface="Times New Roman" panose="02020603050405020304" pitchFamily="18" charset="0"/>
              </a:defRPr>
            </a:lvl4pPr>
            <a:lvl5pPr>
              <a:defRPr sz="1100">
                <a:latin typeface="Calibri" panose="020F0502020204030204" pitchFamily="34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A0DF-1D7A-48E6-A273-4781B29FC3A2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56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2639C-9C54-4D59-B63B-6A40A62DDA1D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345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800-C452-4BB4-A29E-1C525AD1212C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40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33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696B-9AD2-44FF-BD2C-41BB452FE4A1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030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7C143-B4F5-4116-B5F3-D83AE60017C9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18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BDB4-7A29-41E6-A346-B23989C956FF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867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8" y="2730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8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B53D-6090-4BEC-A9F8-8A6C8FC86260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355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2BAD-40F7-494C-9C1B-FB21063E74DF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84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6FA3-784D-405C-B6FF-9C59F33B3B76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27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CA628-0F48-49DD-B493-CEE122CBE4E3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001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A4631-7260-4D4B-B3D4-7EB9234DBA31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>
          <a:xfrm>
            <a:off x="7452320" y="0"/>
            <a:ext cx="1691680" cy="1691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87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A4631-7260-4D4B-B3D4-7EB9234DBA31}" type="datetime1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2" descr="https://lh3.googleusercontent.com/7G5NeQaGWmu01aZuzBN_jiCGqCDE7K5O5eT9dAI2oTRIleTQ1ZvQStLFLybGdWJpsRLjc-ihlfhXlahZ-NP8vJHuH2PR9wRRX8KpZQxeld-u0W6Fuw=w1280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073" y="121196"/>
            <a:ext cx="1468686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s://lh3.googleusercontent.com/HKTsDQnD5XDpENfjlrGI0oK4fnM6tz3yUgSN00wgKjgtsgfo32sBuriKTsuTV7vI8iKOmSGJaBZESUATbvat2CPWxBdpat2GxJ4xHApashfSLjrW-4s=w1280"/>
          <p:cNvPicPr>
            <a:picLocks noChangeAspect="1" noChangeArrowheads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42978" y="465791"/>
            <a:ext cx="593518" cy="23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267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400" b="1" kern="1200">
          <a:solidFill>
            <a:srgbClr val="0070C0"/>
          </a:solidFill>
          <a:latin typeface="Calibri" panose="020F0502020204030204" pitchFamily="34" charset="0"/>
          <a:ea typeface="Arial Unicode MS" panose="020B0604020202020204" pitchFamily="50" charset="-127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11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23528" y="2130430"/>
            <a:ext cx="8136904" cy="1470025"/>
          </a:xfrm>
        </p:spPr>
        <p:txBody>
          <a:bodyPr>
            <a:noAutofit/>
          </a:bodyPr>
          <a:lstStyle/>
          <a:p>
            <a:r>
              <a:rPr lang="en-US" altLang="ko-KR" sz="2800" dirty="0">
                <a:ea typeface="Calibri" panose="020F0502020204030204" pitchFamily="34" charset="0"/>
                <a:cs typeface="Calibri" panose="020F0502020204030204" pitchFamily="34" charset="0"/>
              </a:rPr>
              <a:t>XV6_</a:t>
            </a:r>
            <a:r>
              <a:rPr lang="ko-KR" altLang="ko-KR" sz="2800" dirty="0" err="1">
                <a:cs typeface="Calibri" panose="020F0502020204030204" pitchFamily="34" charset="0"/>
              </a:rPr>
              <a:t>s</a:t>
            </a:r>
            <a:r>
              <a:rPr lang="en-US" altLang="ko-KR" sz="2800" dirty="0" err="1">
                <a:cs typeface="Calibri" panose="020F0502020204030204" pitchFamily="34" charset="0"/>
              </a:rPr>
              <a:t>lab_allocator</a:t>
            </a:r>
            <a:r>
              <a:rPr lang="ko-KR" altLang="ko-KR" sz="2800" dirty="0">
                <a:cs typeface="Calibri" panose="020F0502020204030204" pitchFamily="34" charset="0"/>
              </a:rPr>
              <a:t>_v2</a:t>
            </a:r>
            <a:br>
              <a:rPr lang="ko-KR" altLang="ko-KR" sz="2800" dirty="0">
                <a:cs typeface="Calibri" panose="020F0502020204030204" pitchFamily="34" charset="0"/>
              </a:rPr>
            </a:br>
            <a:r>
              <a:rPr lang="ko-KR" altLang="en-US" sz="2800" dirty="0"/>
              <a:t> </a:t>
            </a:r>
            <a:r>
              <a:rPr lang="en-US" altLang="ko-KR" sz="2800" dirty="0"/>
              <a:t>(c) P#2</a:t>
            </a:r>
            <a:br>
              <a:rPr lang="en-US" altLang="ko-KR" sz="2800" dirty="0"/>
            </a:br>
            <a:r>
              <a:rPr lang="en-US" altLang="ko-KR" sz="2000" dirty="0"/>
              <a:t>Progress Report 2025.07.29</a:t>
            </a:r>
            <a:endParaRPr lang="ko-KR" altLang="en-US" sz="20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67544" y="4437112"/>
            <a:ext cx="7992888" cy="1512168"/>
          </a:xfrm>
        </p:spPr>
        <p:txBody>
          <a:bodyPr>
            <a:normAutofit/>
          </a:bodyPr>
          <a:lstStyle/>
          <a:p>
            <a:r>
              <a:rPr lang="en-US" altLang="ko-KR" b="1" dirty="0" err="1">
                <a:solidFill>
                  <a:schemeClr val="tx1"/>
                </a:solidFill>
              </a:rPr>
              <a:t>ChanHyung</a:t>
            </a:r>
            <a:r>
              <a:rPr lang="en-US" altLang="ko-KR" b="1" dirty="0">
                <a:solidFill>
                  <a:schemeClr val="tx1"/>
                </a:solidFill>
              </a:rPr>
              <a:t> Kim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School of AI Convergence, SSU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9405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Outline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en-US" altLang="en-US" sz="2400" dirty="0" err="1"/>
              <a:t>slabinit</a:t>
            </a:r>
            <a:r>
              <a:rPr kumimoji="1" lang="en-US" altLang="en-US" sz="2400" dirty="0"/>
              <a:t>()</a:t>
            </a:r>
            <a:endParaRPr lang="en-US" altLang="ko-KR" sz="2400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en-US" sz="2400" dirty="0" err="1"/>
              <a:t>Kmalloc</a:t>
            </a:r>
            <a:r>
              <a:rPr kumimoji="1" lang="en-US" altLang="en-US" sz="2400" dirty="0"/>
              <a:t>()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ko-KR" sz="2400" dirty="0" err="1"/>
              <a:t>kmfree</a:t>
            </a:r>
            <a:r>
              <a:rPr kumimoji="1" lang="en-US" altLang="ko-KR" sz="2400" dirty="0"/>
              <a:t>()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ko-KR" sz="2400" dirty="0"/>
              <a:t>Other function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ko-KR" sz="2400" dirty="0"/>
              <a:t>Additional features and testcase</a:t>
            </a:r>
          </a:p>
          <a:p>
            <a:pPr marL="0" indent="0">
              <a:buNone/>
            </a:pPr>
            <a:endParaRPr kumimoji="1" lang="en-US" altLang="ko-KR" sz="2400" dirty="0"/>
          </a:p>
          <a:p>
            <a:pPr marL="0" indent="0">
              <a:buNone/>
            </a:pPr>
            <a:endParaRPr lang="en-US" altLang="ko-KR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610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E4E44-EA36-A6C2-D944-EBE45122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1. </a:t>
            </a:r>
            <a:r>
              <a:rPr kumimoji="1" lang="en-US" altLang="en-US" dirty="0" err="1"/>
              <a:t>slabinit</a:t>
            </a:r>
            <a:r>
              <a:rPr kumimoji="1" lang="en-US" altLang="en-US" dirty="0"/>
              <a:t>()</a:t>
            </a:r>
            <a:endParaRPr kumimoji="1" lang="ko-Kore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8FBF8B-AE6E-3C35-3B84-33727665A3BA}"/>
              </a:ext>
            </a:extLst>
          </p:cNvPr>
          <p:cNvSpPr txBox="1"/>
          <p:nvPr/>
        </p:nvSpPr>
        <p:spPr>
          <a:xfrm>
            <a:off x="5063794" y="1269401"/>
            <a:ext cx="4968552" cy="18033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&lt;</a:t>
            </a:r>
            <a:r>
              <a:rPr lang="en-US" altLang="ko-KR" b="1" spc="-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slab.h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&gt;</a:t>
            </a:r>
            <a:r>
              <a:rPr lang="ko-KR" altLang="en-US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 </a:t>
            </a:r>
            <a:endParaRPr lang="en-US" altLang="ko-KR" b="1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5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</a:t>
            </a:r>
            <a:r>
              <a:rPr lang="en-US" altLang="ko-KR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1.  slab</a:t>
            </a:r>
            <a:r>
              <a:rPr lang="ko-KR" altLang="en-US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을 나눌 때 필요한 여러 멤버변수 정의됨</a:t>
            </a:r>
            <a:endParaRPr lang="en-US" altLang="ko-KR" sz="1500" b="1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2.  </a:t>
            </a:r>
            <a:r>
              <a:rPr lang="en-US" altLang="ko-KR" sz="1500" b="1" spc="-1" dirty="0" err="1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large_count</a:t>
            </a:r>
            <a:r>
              <a:rPr lang="en-US" altLang="ko-KR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</a:t>
            </a:r>
            <a:r>
              <a:rPr lang="ko-KR" altLang="en-US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멤버변수 선언 </a:t>
            </a:r>
            <a:r>
              <a:rPr lang="en-US" altLang="ko-KR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(</a:t>
            </a:r>
            <a:r>
              <a:rPr lang="ko-KR" altLang="en-US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추가 기능</a:t>
            </a:r>
            <a:r>
              <a:rPr lang="en-US" altLang="ko-KR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)</a:t>
            </a:r>
          </a:p>
          <a:p>
            <a:pPr>
              <a:spcBef>
                <a:spcPts val="360"/>
              </a:spcBef>
            </a:pPr>
            <a:endParaRPr lang="en-US" altLang="ko-KR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endParaRPr lang="en-US" altLang="ko-KR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endParaRPr lang="en-US" altLang="ko-KR" b="1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&lt;</a:t>
            </a:r>
            <a:r>
              <a:rPr lang="en-US" altLang="ko-KR" b="1" spc="-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slabinit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&gt;</a:t>
            </a:r>
            <a:r>
              <a:rPr lang="en-US" altLang="ko-KR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</a:t>
            </a: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</a:t>
            </a:r>
            <a:r>
              <a:rPr lang="en-US" altLang="ko-KR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1.  </a:t>
            </a:r>
            <a:r>
              <a:rPr lang="en-US" altLang="ko-KR" sz="1500" b="1" spc="-1" dirty="0" err="1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slab.h</a:t>
            </a:r>
            <a:r>
              <a:rPr lang="en-US" altLang="ko-KR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</a:t>
            </a:r>
            <a:r>
              <a:rPr lang="ko-KR" altLang="en-US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내 </a:t>
            </a:r>
            <a:r>
              <a:rPr lang="en-US" altLang="ko-KR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slab struct</a:t>
            </a:r>
            <a:r>
              <a:rPr lang="ko-KR" altLang="en-US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의 멤버변수를 모두 정의</a:t>
            </a:r>
            <a:endParaRPr lang="en-US" altLang="ko-KR" sz="1500" b="1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endParaRPr lang="en-US" altLang="ko-KR" sz="1500" b="1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2.  </a:t>
            </a:r>
            <a:r>
              <a:rPr lang="ko-KR" altLang="en-US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각 </a:t>
            </a:r>
            <a:r>
              <a:rPr lang="en-US" altLang="ko-KR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slab</a:t>
            </a:r>
            <a:r>
              <a:rPr lang="ko-KR" altLang="en-US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들마다 첫번째 </a:t>
            </a:r>
            <a:r>
              <a:rPr lang="en-US" altLang="ko-KR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page</a:t>
            </a:r>
            <a:r>
              <a:rPr lang="ko-KR" altLang="en-US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미리 할당</a:t>
            </a:r>
            <a:endParaRPr lang="en-US" altLang="ko-KR" sz="1500" b="1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</a:t>
            </a:r>
          </a:p>
          <a:p>
            <a:pPr>
              <a:spcBef>
                <a:spcPts val="360"/>
              </a:spcBef>
            </a:pPr>
            <a:r>
              <a:rPr lang="en-US" altLang="ko-KR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3.  </a:t>
            </a:r>
            <a:r>
              <a:rPr lang="ko-KR" altLang="en-US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메모리 할당 실패 시 </a:t>
            </a:r>
            <a:r>
              <a:rPr lang="en-US" altLang="ko-KR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panic </a:t>
            </a:r>
            <a:r>
              <a:rPr lang="ko-KR" altLang="en-US" sz="15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호출</a:t>
            </a:r>
            <a:endParaRPr lang="en-US" altLang="ko-KR" sz="1500" b="1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endParaRPr lang="en-US" altLang="ko-KR" sz="1400" b="1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ko-KR" altLang="en-US" sz="14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</a:t>
            </a:r>
            <a:r>
              <a:rPr lang="ko-KR" altLang="en-US" sz="14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   </a:t>
            </a:r>
            <a:endParaRPr lang="en-US" altLang="ko-KR" sz="1400" b="0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2261E09-5C96-74D4-AA9A-5DE72A3E2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24285"/>
            <a:ext cx="4606595" cy="388843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1C100C7-1C62-86D8-8DEA-9ACA808D3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2736"/>
            <a:ext cx="3178696" cy="165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590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5B0CF-BDCB-5042-95ED-3B3DA12A7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DB590-96AB-113B-6C5F-AB28A9230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2. </a:t>
            </a:r>
            <a:r>
              <a:rPr kumimoji="1" lang="en-US" altLang="en-US" dirty="0" err="1"/>
              <a:t>Kmalloc</a:t>
            </a:r>
            <a:r>
              <a:rPr kumimoji="1" lang="en-US" altLang="en-US" dirty="0"/>
              <a:t>()</a:t>
            </a:r>
            <a:endParaRPr kumimoji="1" lang="ko-Kore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B5602F-57C6-C7E4-0789-7E1DB3F23F1A}"/>
              </a:ext>
            </a:extLst>
          </p:cNvPr>
          <p:cNvSpPr txBox="1"/>
          <p:nvPr/>
        </p:nvSpPr>
        <p:spPr>
          <a:xfrm>
            <a:off x="4463478" y="980728"/>
            <a:ext cx="5005066" cy="5037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&lt;</a:t>
            </a:r>
            <a:r>
              <a:rPr lang="en-US" altLang="ko-KR" b="1" spc="-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kmalloc</a:t>
            </a:r>
            <a:r>
              <a:rPr lang="en-US" altLang="ko-KR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() </a:t>
            </a:r>
            <a:endParaRPr lang="en-US" altLang="ko-KR" b="1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〮 </a:t>
            </a:r>
            <a:r>
              <a:rPr lang="en-US" altLang="ko-KR" sz="1600" b="1" spc="-1" dirty="0" err="1">
                <a:solidFill>
                  <a:srgbClr val="000000"/>
                </a:solidFill>
                <a:latin typeface="Calibri"/>
              </a:rPr>
              <a:t>kmallco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할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size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의 범위는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0~2048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사이로 고정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  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-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범위 초과시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return 0</a:t>
            </a:r>
          </a:p>
          <a:p>
            <a:pPr>
              <a:spcBef>
                <a:spcPts val="360"/>
              </a:spcBef>
            </a:pP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bitmap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사용가능 하도록 할당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  -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요청한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object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크기에 맞는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slab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구조체 선정</a:t>
            </a: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- bitmap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을 사용하도록 공간 확보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</a:t>
            </a:r>
          </a:p>
          <a:p>
            <a:pPr>
              <a:spcBef>
                <a:spcPts val="360"/>
              </a:spcBef>
            </a:pPr>
            <a:r>
              <a:rPr lang="en-US" altLang="ko-KR" sz="16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</a:t>
            </a: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page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가 비어 있을 경우 페이지 할당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 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- page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할당 후 구조체 내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변수 변경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  - </a:t>
            </a:r>
            <a:r>
              <a:rPr lang="en-US" altLang="ko-KR" sz="1500" spc="-1" dirty="0" err="1">
                <a:solidFill>
                  <a:srgbClr val="000000"/>
                </a:solidFill>
                <a:latin typeface="Calibri"/>
              </a:rPr>
              <a:t>num_pages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와 </a:t>
            </a:r>
            <a:r>
              <a:rPr lang="en-US" altLang="ko-KR" sz="1500" spc="-1" dirty="0" err="1">
                <a:solidFill>
                  <a:srgbClr val="000000"/>
                </a:solidFill>
                <a:latin typeface="Calibri"/>
              </a:rPr>
              <a:t>num_free_objects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수 변경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사용 중이지 않은 객체 찾은 후 주소 반환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  -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전체 객체를 사용 중인지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bitmap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을 활용하여 검사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  -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사용 중이지 않은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bitmap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을 찾게 되면 주소 값 계산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  -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특정 객체 사용과 동시에 구조체 내부 멤버변수 변경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534C21A-5500-DFE4-C899-2621CFB10C97}"/>
              </a:ext>
            </a:extLst>
          </p:cNvPr>
          <p:cNvGrpSpPr/>
          <p:nvPr/>
        </p:nvGrpSpPr>
        <p:grpSpPr>
          <a:xfrm>
            <a:off x="179512" y="1052736"/>
            <a:ext cx="4082217" cy="5724370"/>
            <a:chOff x="2231" y="407795"/>
            <a:chExt cx="4082217" cy="5724370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14B2577F-72E5-54B2-D60C-2DD10868974E}"/>
                </a:ext>
              </a:extLst>
            </p:cNvPr>
            <p:cNvGrpSpPr/>
            <p:nvPr/>
          </p:nvGrpSpPr>
          <p:grpSpPr>
            <a:xfrm>
              <a:off x="2231" y="407795"/>
              <a:ext cx="4082217" cy="5140464"/>
              <a:chOff x="-281036" y="1281056"/>
              <a:chExt cx="4082217" cy="5140464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658AA5D6-4952-E8BC-E93B-0EC2F3DFD4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81035" y="1281056"/>
                <a:ext cx="4082216" cy="504056"/>
              </a:xfrm>
              <a:prstGeom prst="rect">
                <a:avLst/>
              </a:prstGeom>
            </p:spPr>
          </p:pic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85624728-AB6A-BB27-1151-0CE7C64514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81036" y="1785112"/>
                <a:ext cx="4082216" cy="4636408"/>
              </a:xfrm>
              <a:prstGeom prst="rect">
                <a:avLst/>
              </a:prstGeom>
            </p:spPr>
          </p:pic>
        </p:grp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7B0972A-5ADD-CA3D-E9EE-B1E512FD2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31" y="5548259"/>
              <a:ext cx="4082216" cy="583906"/>
            </a:xfrm>
            <a:prstGeom prst="rect">
              <a:avLst/>
            </a:prstGeom>
          </p:spPr>
        </p:pic>
      </p:grpSp>
      <p:sp>
        <p:nvSpPr>
          <p:cNvPr id="15" name="오른쪽 중괄호 14">
            <a:extLst>
              <a:ext uri="{FF2B5EF4-FFF2-40B4-BE49-F238E27FC236}">
                <a16:creationId xmlns:a16="http://schemas.microsoft.com/office/drawing/2014/main" id="{A548DF70-410A-5DED-4334-7C77DF769ADF}"/>
              </a:ext>
            </a:extLst>
          </p:cNvPr>
          <p:cNvSpPr/>
          <p:nvPr/>
        </p:nvSpPr>
        <p:spPr>
          <a:xfrm>
            <a:off x="4355976" y="1196752"/>
            <a:ext cx="107500" cy="332594"/>
          </a:xfrm>
          <a:prstGeom prst="rightBrace">
            <a:avLst>
              <a:gd name="adj1" fmla="val 8333"/>
              <a:gd name="adj2" fmla="val 85525"/>
            </a:avLst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7" name="오른쪽 중괄호 16">
            <a:extLst>
              <a:ext uri="{FF2B5EF4-FFF2-40B4-BE49-F238E27FC236}">
                <a16:creationId xmlns:a16="http://schemas.microsoft.com/office/drawing/2014/main" id="{83D6ED31-301D-11FD-0668-EDAD785BDDFC}"/>
              </a:ext>
            </a:extLst>
          </p:cNvPr>
          <p:cNvSpPr/>
          <p:nvPr/>
        </p:nvSpPr>
        <p:spPr>
          <a:xfrm>
            <a:off x="4355976" y="1607708"/>
            <a:ext cx="107499" cy="1001757"/>
          </a:xfrm>
          <a:prstGeom prst="rightBrace">
            <a:avLst>
              <a:gd name="adj1" fmla="val 8333"/>
              <a:gd name="adj2" fmla="val 73150"/>
            </a:avLst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8" name="오른쪽 중괄호 17">
            <a:extLst>
              <a:ext uri="{FF2B5EF4-FFF2-40B4-BE49-F238E27FC236}">
                <a16:creationId xmlns:a16="http://schemas.microsoft.com/office/drawing/2014/main" id="{92159684-9FD6-0F03-0667-D9E9EC066CC8}"/>
              </a:ext>
            </a:extLst>
          </p:cNvPr>
          <p:cNvSpPr/>
          <p:nvPr/>
        </p:nvSpPr>
        <p:spPr>
          <a:xfrm>
            <a:off x="4355976" y="2687827"/>
            <a:ext cx="107499" cy="1793847"/>
          </a:xfrm>
          <a:prstGeom prst="rightBrace">
            <a:avLst>
              <a:gd name="adj1" fmla="val 8333"/>
              <a:gd name="adj2" fmla="val 46247"/>
            </a:avLst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9" name="오른쪽 중괄호 18">
            <a:extLst>
              <a:ext uri="{FF2B5EF4-FFF2-40B4-BE49-F238E27FC236}">
                <a16:creationId xmlns:a16="http://schemas.microsoft.com/office/drawing/2014/main" id="{BC44EF92-6D5D-0A30-4ED5-ACD475A663ED}"/>
              </a:ext>
            </a:extLst>
          </p:cNvPr>
          <p:cNvSpPr/>
          <p:nvPr/>
        </p:nvSpPr>
        <p:spPr>
          <a:xfrm>
            <a:off x="4355974" y="4560036"/>
            <a:ext cx="107499" cy="1995880"/>
          </a:xfrm>
          <a:prstGeom prst="rightBrace">
            <a:avLst>
              <a:gd name="adj1" fmla="val 8333"/>
              <a:gd name="adj2" fmla="val 17138"/>
            </a:avLst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A01608A-D9BB-38FC-01C6-40F2CBB12975}"/>
              </a:ext>
            </a:extLst>
          </p:cNvPr>
          <p:cNvSpPr/>
          <p:nvPr/>
        </p:nvSpPr>
        <p:spPr>
          <a:xfrm>
            <a:off x="1346041" y="1556791"/>
            <a:ext cx="831034" cy="1391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032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B96C5-2D68-97F0-4EE7-13128D49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DB824E-89C2-79DC-56CD-42E5133CD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3. </a:t>
            </a:r>
            <a:r>
              <a:rPr kumimoji="1" lang="en-US" altLang="en-US" dirty="0" err="1"/>
              <a:t>kmfree</a:t>
            </a:r>
            <a:r>
              <a:rPr kumimoji="1" lang="en-US" altLang="en-US" dirty="0"/>
              <a:t>()</a:t>
            </a:r>
            <a:endParaRPr kumimoji="1" lang="ko-Kore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36BDAD9-E540-C002-44EE-8520342928BF}"/>
              </a:ext>
            </a:extLst>
          </p:cNvPr>
          <p:cNvGrpSpPr/>
          <p:nvPr/>
        </p:nvGrpSpPr>
        <p:grpSpPr>
          <a:xfrm>
            <a:off x="107504" y="1083762"/>
            <a:ext cx="4211620" cy="5657606"/>
            <a:chOff x="457200" y="2175192"/>
            <a:chExt cx="3788678" cy="4690475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409E652-8BCA-5779-4A9E-6D8F9DBA9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2175192"/>
              <a:ext cx="3788678" cy="256280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34EAD26-040F-D206-0D37-A60722B9D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2431472"/>
              <a:ext cx="3788677" cy="3955212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3182ACA-8AFC-6441-616C-CE1B051A87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" y="6386684"/>
              <a:ext cx="3788677" cy="478983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4E375F4-39B3-9573-A68A-663C29D94E65}"/>
              </a:ext>
            </a:extLst>
          </p:cNvPr>
          <p:cNvSpPr txBox="1"/>
          <p:nvPr/>
        </p:nvSpPr>
        <p:spPr>
          <a:xfrm>
            <a:off x="4475578" y="846138"/>
            <a:ext cx="5005066" cy="5021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&lt;</a:t>
            </a:r>
            <a:r>
              <a:rPr lang="en-US" altLang="ko-KR" b="1" spc="-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kmfree</a:t>
            </a:r>
            <a:r>
              <a:rPr lang="en-US" altLang="ko-KR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()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&gt;</a:t>
            </a:r>
            <a:r>
              <a:rPr lang="en-US" altLang="ko-KR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 </a:t>
            </a:r>
            <a:endParaRPr lang="en-US" altLang="ko-KR" b="1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〮 </a:t>
            </a:r>
            <a:r>
              <a:rPr lang="en-US" altLang="ko-KR" sz="1600" b="1" spc="-1" dirty="0" err="1">
                <a:solidFill>
                  <a:srgbClr val="000000"/>
                </a:solidFill>
                <a:latin typeface="Calibri"/>
              </a:rPr>
              <a:t>kmfree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할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size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의 범위는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0~2048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사이로 고정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해제할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object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크기에 맞는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slab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구조체 선정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  - slab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이 비어 있다면 오류</a:t>
            </a:r>
            <a:endParaRPr lang="en-US" altLang="ko-KR" sz="16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6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</a:t>
            </a: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주소로부터 객체 위치 반환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 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-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주소에 따른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page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위치 계산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  -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주소에 따른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Object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위치 계산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  - page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값 및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obj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값이 잘못 됐을 경우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return;</a:t>
            </a:r>
          </a:p>
          <a:p>
            <a:pPr>
              <a:spcBef>
                <a:spcPts val="360"/>
              </a:spcBef>
            </a:pP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bitmap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이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값으로 채워져 있다면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clear</a:t>
            </a: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  - object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들을 모두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free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해주기에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bitmap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도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clear</a:t>
            </a: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  - bitmap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 비워주면서 관련 구조체 멤버변수 값 변경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비워진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bitmap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을 활용하여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page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도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free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오른쪽 중괄호 18">
            <a:extLst>
              <a:ext uri="{FF2B5EF4-FFF2-40B4-BE49-F238E27FC236}">
                <a16:creationId xmlns:a16="http://schemas.microsoft.com/office/drawing/2014/main" id="{F6D89FB3-B5AB-B147-B62D-4BBFCEA6DBA1}"/>
              </a:ext>
            </a:extLst>
          </p:cNvPr>
          <p:cNvSpPr/>
          <p:nvPr/>
        </p:nvSpPr>
        <p:spPr>
          <a:xfrm>
            <a:off x="4355976" y="1196752"/>
            <a:ext cx="107498" cy="332594"/>
          </a:xfrm>
          <a:prstGeom prst="rightBrace">
            <a:avLst>
              <a:gd name="adj1" fmla="val 8333"/>
              <a:gd name="adj2" fmla="val 35028"/>
            </a:avLst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0" name="오른쪽 중괄호 19">
            <a:extLst>
              <a:ext uri="{FF2B5EF4-FFF2-40B4-BE49-F238E27FC236}">
                <a16:creationId xmlns:a16="http://schemas.microsoft.com/office/drawing/2014/main" id="{599805FB-86ED-D063-B196-EC79B8913653}"/>
              </a:ext>
            </a:extLst>
          </p:cNvPr>
          <p:cNvSpPr/>
          <p:nvPr/>
        </p:nvSpPr>
        <p:spPr>
          <a:xfrm>
            <a:off x="4355974" y="1607709"/>
            <a:ext cx="107501" cy="516020"/>
          </a:xfrm>
          <a:prstGeom prst="rightBrace">
            <a:avLst>
              <a:gd name="adj1" fmla="val 8333"/>
              <a:gd name="adj2" fmla="val 73150"/>
            </a:avLst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1" name="오른쪽 중괄호 20">
            <a:extLst>
              <a:ext uri="{FF2B5EF4-FFF2-40B4-BE49-F238E27FC236}">
                <a16:creationId xmlns:a16="http://schemas.microsoft.com/office/drawing/2014/main" id="{4A8ECE49-2251-A78F-7783-ECE313785ECB}"/>
              </a:ext>
            </a:extLst>
          </p:cNvPr>
          <p:cNvSpPr/>
          <p:nvPr/>
        </p:nvSpPr>
        <p:spPr>
          <a:xfrm>
            <a:off x="4355974" y="2163084"/>
            <a:ext cx="107500" cy="1409931"/>
          </a:xfrm>
          <a:prstGeom prst="rightBrace">
            <a:avLst>
              <a:gd name="adj1" fmla="val 8333"/>
              <a:gd name="adj2" fmla="val 43978"/>
            </a:avLst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2" name="오른쪽 중괄호 21">
            <a:extLst>
              <a:ext uri="{FF2B5EF4-FFF2-40B4-BE49-F238E27FC236}">
                <a16:creationId xmlns:a16="http://schemas.microsoft.com/office/drawing/2014/main" id="{27413A70-F21D-E985-9A8E-2B99C47AB88A}"/>
              </a:ext>
            </a:extLst>
          </p:cNvPr>
          <p:cNvSpPr/>
          <p:nvPr/>
        </p:nvSpPr>
        <p:spPr>
          <a:xfrm>
            <a:off x="4355974" y="3624134"/>
            <a:ext cx="119603" cy="812978"/>
          </a:xfrm>
          <a:prstGeom prst="rightBrace">
            <a:avLst>
              <a:gd name="adj1" fmla="val 8333"/>
              <a:gd name="adj2" fmla="val 68785"/>
            </a:avLst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3" name="오른쪽 중괄호 22">
            <a:extLst>
              <a:ext uri="{FF2B5EF4-FFF2-40B4-BE49-F238E27FC236}">
                <a16:creationId xmlns:a16="http://schemas.microsoft.com/office/drawing/2014/main" id="{55C4CAAB-1DCD-C0D9-26DE-64FDDEE3EAA8}"/>
              </a:ext>
            </a:extLst>
          </p:cNvPr>
          <p:cNvSpPr/>
          <p:nvPr/>
        </p:nvSpPr>
        <p:spPr>
          <a:xfrm>
            <a:off x="4361649" y="4499544"/>
            <a:ext cx="101826" cy="1664079"/>
          </a:xfrm>
          <a:prstGeom prst="rightBrace">
            <a:avLst>
              <a:gd name="adj1" fmla="val 8333"/>
              <a:gd name="adj2" fmla="val 51964"/>
            </a:avLst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467D2B2-9585-2C0B-01CF-EF329A6E5D64}"/>
              </a:ext>
            </a:extLst>
          </p:cNvPr>
          <p:cNvSpPr/>
          <p:nvPr/>
        </p:nvSpPr>
        <p:spPr>
          <a:xfrm>
            <a:off x="457200" y="6365306"/>
            <a:ext cx="658416" cy="914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AEDD554C-30FD-B842-CD97-0DA832B44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967389"/>
              </p:ext>
            </p:extLst>
          </p:nvPr>
        </p:nvGraphicFramePr>
        <p:xfrm>
          <a:off x="4689655" y="5517232"/>
          <a:ext cx="321053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089">
                  <a:extLst>
                    <a:ext uri="{9D8B030D-6E8A-4147-A177-3AD203B41FA5}">
                      <a16:colId xmlns:a16="http://schemas.microsoft.com/office/drawing/2014/main" val="1943733339"/>
                    </a:ext>
                  </a:extLst>
                </a:gridCol>
                <a:gridCol w="535089">
                  <a:extLst>
                    <a:ext uri="{9D8B030D-6E8A-4147-A177-3AD203B41FA5}">
                      <a16:colId xmlns:a16="http://schemas.microsoft.com/office/drawing/2014/main" val="1098124831"/>
                    </a:ext>
                  </a:extLst>
                </a:gridCol>
                <a:gridCol w="535089">
                  <a:extLst>
                    <a:ext uri="{9D8B030D-6E8A-4147-A177-3AD203B41FA5}">
                      <a16:colId xmlns:a16="http://schemas.microsoft.com/office/drawing/2014/main" val="843658033"/>
                    </a:ext>
                  </a:extLst>
                </a:gridCol>
                <a:gridCol w="535089">
                  <a:extLst>
                    <a:ext uri="{9D8B030D-6E8A-4147-A177-3AD203B41FA5}">
                      <a16:colId xmlns:a16="http://schemas.microsoft.com/office/drawing/2014/main" val="582408637"/>
                    </a:ext>
                  </a:extLst>
                </a:gridCol>
                <a:gridCol w="535089">
                  <a:extLst>
                    <a:ext uri="{9D8B030D-6E8A-4147-A177-3AD203B41FA5}">
                      <a16:colId xmlns:a16="http://schemas.microsoft.com/office/drawing/2014/main" val="3825454046"/>
                    </a:ext>
                  </a:extLst>
                </a:gridCol>
                <a:gridCol w="535089">
                  <a:extLst>
                    <a:ext uri="{9D8B030D-6E8A-4147-A177-3AD203B41FA5}">
                      <a16:colId xmlns:a16="http://schemas.microsoft.com/office/drawing/2014/main" val="664253445"/>
                    </a:ext>
                  </a:extLst>
                </a:gridCol>
              </a:tblGrid>
              <a:tr h="295597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763955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4149641D-1A46-6816-8167-207158D44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269420"/>
              </p:ext>
            </p:extLst>
          </p:nvPr>
        </p:nvGraphicFramePr>
        <p:xfrm>
          <a:off x="4689655" y="6385793"/>
          <a:ext cx="321053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089">
                  <a:extLst>
                    <a:ext uri="{9D8B030D-6E8A-4147-A177-3AD203B41FA5}">
                      <a16:colId xmlns:a16="http://schemas.microsoft.com/office/drawing/2014/main" val="1943733339"/>
                    </a:ext>
                  </a:extLst>
                </a:gridCol>
                <a:gridCol w="535089">
                  <a:extLst>
                    <a:ext uri="{9D8B030D-6E8A-4147-A177-3AD203B41FA5}">
                      <a16:colId xmlns:a16="http://schemas.microsoft.com/office/drawing/2014/main" val="1098124831"/>
                    </a:ext>
                  </a:extLst>
                </a:gridCol>
                <a:gridCol w="535089">
                  <a:extLst>
                    <a:ext uri="{9D8B030D-6E8A-4147-A177-3AD203B41FA5}">
                      <a16:colId xmlns:a16="http://schemas.microsoft.com/office/drawing/2014/main" val="843658033"/>
                    </a:ext>
                  </a:extLst>
                </a:gridCol>
                <a:gridCol w="535089">
                  <a:extLst>
                    <a:ext uri="{9D8B030D-6E8A-4147-A177-3AD203B41FA5}">
                      <a16:colId xmlns:a16="http://schemas.microsoft.com/office/drawing/2014/main" val="582408637"/>
                    </a:ext>
                  </a:extLst>
                </a:gridCol>
                <a:gridCol w="535089">
                  <a:extLst>
                    <a:ext uri="{9D8B030D-6E8A-4147-A177-3AD203B41FA5}">
                      <a16:colId xmlns:a16="http://schemas.microsoft.com/office/drawing/2014/main" val="3825454046"/>
                    </a:ext>
                  </a:extLst>
                </a:gridCol>
                <a:gridCol w="535089">
                  <a:extLst>
                    <a:ext uri="{9D8B030D-6E8A-4147-A177-3AD203B41FA5}">
                      <a16:colId xmlns:a16="http://schemas.microsoft.com/office/drawing/2014/main" val="664253445"/>
                    </a:ext>
                  </a:extLst>
                </a:gridCol>
              </a:tblGrid>
              <a:tr h="295597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763955"/>
                  </a:ext>
                </a:extLst>
              </a:tr>
            </a:tbl>
          </a:graphicData>
        </a:graphic>
      </p:graphicFrame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9D10A18A-918C-15B6-382D-FFF9CC727940}"/>
              </a:ext>
            </a:extLst>
          </p:cNvPr>
          <p:cNvCxnSpPr>
            <a:cxnSpLocks/>
          </p:cNvCxnSpPr>
          <p:nvPr/>
        </p:nvCxnSpPr>
        <p:spPr>
          <a:xfrm>
            <a:off x="6294922" y="5949280"/>
            <a:ext cx="0" cy="364505"/>
          </a:xfrm>
          <a:prstGeom prst="straightConnector1">
            <a:avLst/>
          </a:prstGeom>
          <a:ln w="19050">
            <a:solidFill>
              <a:srgbClr val="0D0D0D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566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E4E44-EA36-A6C2-D944-EBE45122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4. </a:t>
            </a:r>
            <a:r>
              <a:rPr kumimoji="1" lang="ko-KR" altLang="en-US" dirty="0"/>
              <a:t>추가함수</a:t>
            </a:r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02E8A2-A627-3A1A-AEE3-64D126D01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72" y="1709497"/>
            <a:ext cx="3229426" cy="343900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1EF021B-74F1-71C9-71D7-CD520E5A4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2166760"/>
            <a:ext cx="4858428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670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24909-ACF0-5C53-96AB-41302973C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CBF159-8BED-F946-76A8-AD4806E56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4. </a:t>
            </a:r>
            <a:r>
              <a:rPr kumimoji="1" lang="ko-KR" altLang="en-US" dirty="0"/>
              <a:t>추가함수</a:t>
            </a:r>
            <a:endParaRPr kumimoji="1" lang="ko-Kore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126D92-BB76-D39F-B966-6F83CD62D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24744"/>
            <a:ext cx="4032448" cy="5611221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8397308-A2A6-37EA-ED69-889A20380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902231"/>
              </p:ext>
            </p:extLst>
          </p:nvPr>
        </p:nvGraphicFramePr>
        <p:xfrm>
          <a:off x="4889858" y="764704"/>
          <a:ext cx="321053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089">
                  <a:extLst>
                    <a:ext uri="{9D8B030D-6E8A-4147-A177-3AD203B41FA5}">
                      <a16:colId xmlns:a16="http://schemas.microsoft.com/office/drawing/2014/main" val="1943733339"/>
                    </a:ext>
                  </a:extLst>
                </a:gridCol>
                <a:gridCol w="535089">
                  <a:extLst>
                    <a:ext uri="{9D8B030D-6E8A-4147-A177-3AD203B41FA5}">
                      <a16:colId xmlns:a16="http://schemas.microsoft.com/office/drawing/2014/main" val="1098124831"/>
                    </a:ext>
                  </a:extLst>
                </a:gridCol>
                <a:gridCol w="535089">
                  <a:extLst>
                    <a:ext uri="{9D8B030D-6E8A-4147-A177-3AD203B41FA5}">
                      <a16:colId xmlns:a16="http://schemas.microsoft.com/office/drawing/2014/main" val="843658033"/>
                    </a:ext>
                  </a:extLst>
                </a:gridCol>
                <a:gridCol w="535089">
                  <a:extLst>
                    <a:ext uri="{9D8B030D-6E8A-4147-A177-3AD203B41FA5}">
                      <a16:colId xmlns:a16="http://schemas.microsoft.com/office/drawing/2014/main" val="582408637"/>
                    </a:ext>
                  </a:extLst>
                </a:gridCol>
                <a:gridCol w="535089">
                  <a:extLst>
                    <a:ext uri="{9D8B030D-6E8A-4147-A177-3AD203B41FA5}">
                      <a16:colId xmlns:a16="http://schemas.microsoft.com/office/drawing/2014/main" val="3825454046"/>
                    </a:ext>
                  </a:extLst>
                </a:gridCol>
                <a:gridCol w="535089">
                  <a:extLst>
                    <a:ext uri="{9D8B030D-6E8A-4147-A177-3AD203B41FA5}">
                      <a16:colId xmlns:a16="http://schemas.microsoft.com/office/drawing/2014/main" val="664253445"/>
                    </a:ext>
                  </a:extLst>
                </a:gridCol>
              </a:tblGrid>
              <a:tr h="295597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763955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C9AADB5-AB23-BF1C-92AF-14F45526E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327617"/>
              </p:ext>
            </p:extLst>
          </p:nvPr>
        </p:nvGraphicFramePr>
        <p:xfrm>
          <a:off x="4889858" y="1633265"/>
          <a:ext cx="321053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089">
                  <a:extLst>
                    <a:ext uri="{9D8B030D-6E8A-4147-A177-3AD203B41FA5}">
                      <a16:colId xmlns:a16="http://schemas.microsoft.com/office/drawing/2014/main" val="1943733339"/>
                    </a:ext>
                  </a:extLst>
                </a:gridCol>
                <a:gridCol w="535089">
                  <a:extLst>
                    <a:ext uri="{9D8B030D-6E8A-4147-A177-3AD203B41FA5}">
                      <a16:colId xmlns:a16="http://schemas.microsoft.com/office/drawing/2014/main" val="1098124831"/>
                    </a:ext>
                  </a:extLst>
                </a:gridCol>
                <a:gridCol w="535089">
                  <a:extLst>
                    <a:ext uri="{9D8B030D-6E8A-4147-A177-3AD203B41FA5}">
                      <a16:colId xmlns:a16="http://schemas.microsoft.com/office/drawing/2014/main" val="843658033"/>
                    </a:ext>
                  </a:extLst>
                </a:gridCol>
                <a:gridCol w="535089">
                  <a:extLst>
                    <a:ext uri="{9D8B030D-6E8A-4147-A177-3AD203B41FA5}">
                      <a16:colId xmlns:a16="http://schemas.microsoft.com/office/drawing/2014/main" val="582408637"/>
                    </a:ext>
                  </a:extLst>
                </a:gridCol>
                <a:gridCol w="535089">
                  <a:extLst>
                    <a:ext uri="{9D8B030D-6E8A-4147-A177-3AD203B41FA5}">
                      <a16:colId xmlns:a16="http://schemas.microsoft.com/office/drawing/2014/main" val="3825454046"/>
                    </a:ext>
                  </a:extLst>
                </a:gridCol>
                <a:gridCol w="535089">
                  <a:extLst>
                    <a:ext uri="{9D8B030D-6E8A-4147-A177-3AD203B41FA5}">
                      <a16:colId xmlns:a16="http://schemas.microsoft.com/office/drawing/2014/main" val="664253445"/>
                    </a:ext>
                  </a:extLst>
                </a:gridCol>
              </a:tblGrid>
              <a:tr h="295597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763955"/>
                  </a:ext>
                </a:extLst>
              </a:tr>
            </a:tbl>
          </a:graphicData>
        </a:graphic>
      </p:graphicFrame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27DA462-1F7E-D8BF-A561-4953D8E440F7}"/>
              </a:ext>
            </a:extLst>
          </p:cNvPr>
          <p:cNvCxnSpPr>
            <a:cxnSpLocks/>
          </p:cNvCxnSpPr>
          <p:nvPr/>
        </p:nvCxnSpPr>
        <p:spPr>
          <a:xfrm>
            <a:off x="6495125" y="1196752"/>
            <a:ext cx="0" cy="364505"/>
          </a:xfrm>
          <a:prstGeom prst="straightConnector1">
            <a:avLst/>
          </a:prstGeom>
          <a:ln w="19050">
            <a:solidFill>
              <a:srgbClr val="0D0D0D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8AD5BB4-FE5A-B8E6-DD59-31C0D81A018F}"/>
              </a:ext>
            </a:extLst>
          </p:cNvPr>
          <p:cNvSpPr txBox="1"/>
          <p:nvPr/>
        </p:nvSpPr>
        <p:spPr>
          <a:xfrm>
            <a:off x="4889857" y="404664"/>
            <a:ext cx="1800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&lt;Test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7&gt;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50D9A7-6F6C-4076-DC9C-D624848831DA}"/>
              </a:ext>
            </a:extLst>
          </p:cNvPr>
          <p:cNvSpPr txBox="1"/>
          <p:nvPr/>
        </p:nvSpPr>
        <p:spPr>
          <a:xfrm>
            <a:off x="4572000" y="2185888"/>
            <a:ext cx="5005066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〮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처음으로 비어 있는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page </a:t>
            </a:r>
            <a:r>
              <a:rPr lang="en-US" altLang="ko-KR" sz="1600" b="1" spc="-1" dirty="0" err="1">
                <a:solidFill>
                  <a:srgbClr val="000000"/>
                </a:solidFill>
                <a:latin typeface="Calibri"/>
              </a:rPr>
              <a:t>idx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저장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(</a:t>
            </a:r>
            <a:r>
              <a:rPr lang="en-US" altLang="ko-KR" sz="1600" b="1" spc="-1" dirty="0" err="1">
                <a:solidFill>
                  <a:srgbClr val="000000"/>
                </a:solidFill>
                <a:latin typeface="Calibri"/>
              </a:rPr>
              <a:t>write_idx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)</a:t>
            </a: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   - </a:t>
            </a:r>
            <a:r>
              <a:rPr lang="en-US" altLang="ko-KR" sz="1600" spc="-1" dirty="0" err="1">
                <a:solidFill>
                  <a:srgbClr val="000000"/>
                </a:solidFill>
                <a:latin typeface="Calibri"/>
              </a:rPr>
              <a:t>idx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를 저장하여 뒤쪽 사용 중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page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저장 공간</a:t>
            </a: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뒤쪽에 가득 찬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page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를 앞으로 당김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   -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첫번째로 가득 찬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page </a:t>
            </a:r>
            <a:r>
              <a:rPr lang="en-US" altLang="ko-KR" sz="1600" spc="-1" dirty="0" err="1">
                <a:solidFill>
                  <a:srgbClr val="000000"/>
                </a:solidFill>
                <a:latin typeface="Calibri"/>
              </a:rPr>
              <a:t>idx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저장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(</a:t>
            </a:r>
            <a:r>
              <a:rPr lang="en-US" altLang="ko-KR" sz="1600" spc="-1" dirty="0" err="1">
                <a:solidFill>
                  <a:srgbClr val="000000"/>
                </a:solidFill>
                <a:latin typeface="Calibri"/>
              </a:rPr>
              <a:t>read_idx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)</a:t>
            </a: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  - </a:t>
            </a:r>
            <a:r>
              <a:rPr lang="en-US" altLang="ko-KR" sz="1600" spc="-1" dirty="0" err="1">
                <a:solidFill>
                  <a:srgbClr val="000000"/>
                </a:solidFill>
                <a:latin typeface="Calibri"/>
              </a:rPr>
              <a:t>write_idx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위치에 </a:t>
            </a:r>
            <a:r>
              <a:rPr lang="en-US" altLang="ko-KR" sz="1600" spc="-1" dirty="0" err="1">
                <a:solidFill>
                  <a:srgbClr val="000000"/>
                </a:solidFill>
                <a:latin typeface="Calibri"/>
              </a:rPr>
              <a:t>read_idx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값 저장</a:t>
            </a: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- bitmap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값을 변경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</a:t>
            </a:r>
          </a:p>
          <a:p>
            <a:pPr>
              <a:spcBef>
                <a:spcPts val="360"/>
              </a:spcBef>
            </a:pPr>
            <a:r>
              <a:rPr lang="en-US" altLang="ko-KR" sz="16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</a:t>
            </a:r>
          </a:p>
          <a:p>
            <a:pPr>
              <a:spcBef>
                <a:spcPts val="360"/>
              </a:spcBef>
            </a:pP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〮 </a:t>
            </a:r>
            <a:r>
              <a:rPr lang="en-US" altLang="ko-KR" sz="1600" b="1" spc="-1" dirty="0" err="1">
                <a:solidFill>
                  <a:srgbClr val="000000"/>
                </a:solidFill>
                <a:latin typeface="Calibri"/>
              </a:rPr>
              <a:t>num_page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값  최신화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〮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당겨줄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page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가 없었을 경우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  -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첫번째 페이지는 미리 할당 되어 있어야 함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오른쪽 중괄호 12">
            <a:extLst>
              <a:ext uri="{FF2B5EF4-FFF2-40B4-BE49-F238E27FC236}">
                <a16:creationId xmlns:a16="http://schemas.microsoft.com/office/drawing/2014/main" id="{F33BEB6E-1D6B-7FC2-A221-0A4B8B8101D6}"/>
              </a:ext>
            </a:extLst>
          </p:cNvPr>
          <p:cNvSpPr/>
          <p:nvPr/>
        </p:nvSpPr>
        <p:spPr>
          <a:xfrm>
            <a:off x="4499992" y="1534463"/>
            <a:ext cx="107499" cy="814417"/>
          </a:xfrm>
          <a:prstGeom prst="rightBrace">
            <a:avLst>
              <a:gd name="adj1" fmla="val 8333"/>
              <a:gd name="adj2" fmla="val 85525"/>
            </a:avLst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4" name="오른쪽 중괄호 13">
            <a:extLst>
              <a:ext uri="{FF2B5EF4-FFF2-40B4-BE49-F238E27FC236}">
                <a16:creationId xmlns:a16="http://schemas.microsoft.com/office/drawing/2014/main" id="{DF9E11DE-A9F8-79CE-5D56-0E1DC8D7D100}"/>
              </a:ext>
            </a:extLst>
          </p:cNvPr>
          <p:cNvSpPr/>
          <p:nvPr/>
        </p:nvSpPr>
        <p:spPr>
          <a:xfrm>
            <a:off x="4508920" y="2499251"/>
            <a:ext cx="98571" cy="2497695"/>
          </a:xfrm>
          <a:prstGeom prst="rightBrace">
            <a:avLst>
              <a:gd name="adj1" fmla="val 8333"/>
              <a:gd name="adj2" fmla="val 28913"/>
            </a:avLst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6" name="오른쪽 중괄호 15">
            <a:extLst>
              <a:ext uri="{FF2B5EF4-FFF2-40B4-BE49-F238E27FC236}">
                <a16:creationId xmlns:a16="http://schemas.microsoft.com/office/drawing/2014/main" id="{C152E67F-C952-A44C-DA7F-781686947735}"/>
              </a:ext>
            </a:extLst>
          </p:cNvPr>
          <p:cNvSpPr/>
          <p:nvPr/>
        </p:nvSpPr>
        <p:spPr>
          <a:xfrm>
            <a:off x="4508920" y="5157192"/>
            <a:ext cx="98571" cy="600078"/>
          </a:xfrm>
          <a:prstGeom prst="rightBrace">
            <a:avLst>
              <a:gd name="adj1" fmla="val 8333"/>
              <a:gd name="adj2" fmla="val 74281"/>
            </a:avLst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8" name="오른쪽 중괄호 17">
            <a:extLst>
              <a:ext uri="{FF2B5EF4-FFF2-40B4-BE49-F238E27FC236}">
                <a16:creationId xmlns:a16="http://schemas.microsoft.com/office/drawing/2014/main" id="{E2561C8F-14EE-397C-0EB4-F994B284EB5C}"/>
              </a:ext>
            </a:extLst>
          </p:cNvPr>
          <p:cNvSpPr/>
          <p:nvPr/>
        </p:nvSpPr>
        <p:spPr>
          <a:xfrm>
            <a:off x="4508920" y="5856824"/>
            <a:ext cx="98571" cy="600078"/>
          </a:xfrm>
          <a:prstGeom prst="rightBrace">
            <a:avLst>
              <a:gd name="adj1" fmla="val 8333"/>
              <a:gd name="adj2" fmla="val 39361"/>
            </a:avLst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24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88048-5BD2-90C8-8A5B-F9C12C93C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15BC5A-3A1A-A200-07FC-0420318AE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kumimoji="1" lang="en-US" altLang="en-US" dirty="0"/>
              <a:t>5. Additional </a:t>
            </a:r>
            <a:r>
              <a:rPr kumimoji="1" lang="en-US" altLang="ko-KR" dirty="0" err="1"/>
              <a:t>testcode</a:t>
            </a:r>
            <a:endParaRPr kumimoji="1" lang="ko-Kore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67C9B23-E583-6158-8562-24DCBFE59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996957"/>
              </p:ext>
            </p:extLst>
          </p:nvPr>
        </p:nvGraphicFramePr>
        <p:xfrm>
          <a:off x="466937" y="1268760"/>
          <a:ext cx="237626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1943733339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1098124831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843658033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582408637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3825454046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664253445"/>
                    </a:ext>
                  </a:extLst>
                </a:gridCol>
              </a:tblGrid>
              <a:tr h="148481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763955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8938946-BF7C-2840-513C-0CF101AF1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563246"/>
              </p:ext>
            </p:extLst>
          </p:nvPr>
        </p:nvGraphicFramePr>
        <p:xfrm>
          <a:off x="466937" y="1983120"/>
          <a:ext cx="237626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1943733339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1098124831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843658033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582408637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3825454046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664253445"/>
                    </a:ext>
                  </a:extLst>
                </a:gridCol>
              </a:tblGrid>
              <a:tr h="148481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76395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75D87A9-CDDB-A3BA-59F1-E2CC2E0EB3E1}"/>
              </a:ext>
            </a:extLst>
          </p:cNvPr>
          <p:cNvSpPr txBox="1"/>
          <p:nvPr/>
        </p:nvSpPr>
        <p:spPr>
          <a:xfrm>
            <a:off x="466936" y="908720"/>
            <a:ext cx="2520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&lt;Test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7&gt;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663DE49-2C24-DD85-BC8E-3856FDA9C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71891"/>
              </p:ext>
            </p:extLst>
          </p:nvPr>
        </p:nvGraphicFramePr>
        <p:xfrm>
          <a:off x="4788024" y="1268760"/>
          <a:ext cx="237626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075">
                  <a:extLst>
                    <a:ext uri="{9D8B030D-6E8A-4147-A177-3AD203B41FA5}">
                      <a16:colId xmlns:a16="http://schemas.microsoft.com/office/drawing/2014/main" val="1943733339"/>
                    </a:ext>
                  </a:extLst>
                </a:gridCol>
                <a:gridCol w="419013">
                  <a:extLst>
                    <a:ext uri="{9D8B030D-6E8A-4147-A177-3AD203B41FA5}">
                      <a16:colId xmlns:a16="http://schemas.microsoft.com/office/drawing/2014/main" val="1098124831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843658033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582408637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3825454046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664253445"/>
                    </a:ext>
                  </a:extLst>
                </a:gridCol>
              </a:tblGrid>
              <a:tr h="148481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763955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90330EF-FC90-E1AC-B2D0-83795837D3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084599"/>
              </p:ext>
            </p:extLst>
          </p:nvPr>
        </p:nvGraphicFramePr>
        <p:xfrm>
          <a:off x="4788024" y="1988840"/>
          <a:ext cx="237626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1943733339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1098124831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843658033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582408637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3825454046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6642534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76395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7D6035A-9A02-E09D-A878-3B75F11F27AC}"/>
              </a:ext>
            </a:extLst>
          </p:cNvPr>
          <p:cNvSpPr txBox="1"/>
          <p:nvPr/>
        </p:nvSpPr>
        <p:spPr>
          <a:xfrm>
            <a:off x="4788023" y="908720"/>
            <a:ext cx="1971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&lt;Test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10&gt;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3A98AA1-2429-9187-E23C-90B71969168D}"/>
              </a:ext>
            </a:extLst>
          </p:cNvPr>
          <p:cNvCxnSpPr/>
          <p:nvPr/>
        </p:nvCxnSpPr>
        <p:spPr>
          <a:xfrm>
            <a:off x="1638722" y="1700808"/>
            <a:ext cx="0" cy="210304"/>
          </a:xfrm>
          <a:prstGeom prst="straightConnector1">
            <a:avLst/>
          </a:prstGeom>
          <a:ln w="19050">
            <a:solidFill>
              <a:srgbClr val="0D0D0D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868A2BE-84A3-EB03-4042-AD16277F1131}"/>
              </a:ext>
            </a:extLst>
          </p:cNvPr>
          <p:cNvCxnSpPr/>
          <p:nvPr/>
        </p:nvCxnSpPr>
        <p:spPr>
          <a:xfrm>
            <a:off x="5959202" y="1700808"/>
            <a:ext cx="0" cy="210304"/>
          </a:xfrm>
          <a:prstGeom prst="straightConnector1">
            <a:avLst/>
          </a:prstGeom>
          <a:ln w="19050">
            <a:solidFill>
              <a:srgbClr val="0D0D0D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그림 29">
            <a:extLst>
              <a:ext uri="{FF2B5EF4-FFF2-40B4-BE49-F238E27FC236}">
                <a16:creationId xmlns:a16="http://schemas.microsoft.com/office/drawing/2014/main" id="{6D1FC8AD-E7FF-5643-6B6F-FEB0EE365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" y="2924944"/>
            <a:ext cx="4507052" cy="386096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920319B8-4C80-F6C5-D8DA-F0DE55FE9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966" y="3593595"/>
            <a:ext cx="4373804" cy="252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661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10864-BF68-CE48-EE9E-F72AB55E9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22C53-C3BB-1337-76F2-C1936EB30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kumimoji="1" lang="en-US" altLang="en-US" dirty="0"/>
              <a:t>5. Additional </a:t>
            </a:r>
            <a:r>
              <a:rPr kumimoji="1" lang="en-US" altLang="ko-KR" dirty="0" err="1"/>
              <a:t>testcode</a:t>
            </a:r>
            <a:endParaRPr kumimoji="1" lang="ko-Kore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45AFEA7-10F2-83C3-C056-8F45B5D0A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132856"/>
            <a:ext cx="4058216" cy="292458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3E3D676-FACB-3C99-3F69-2ABD25446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15616"/>
            <a:ext cx="4168979" cy="556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375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6D94E-314A-1122-EC82-5DF99A84F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F3554B-6C57-F688-F517-38AF0B828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5. Additional feature – large</a:t>
            </a:r>
            <a:r>
              <a:rPr kumimoji="1" lang="ko-KR" altLang="en-US" dirty="0"/>
              <a:t> </a:t>
            </a:r>
            <a:r>
              <a:rPr kumimoji="1" lang="en-US" altLang="ko-KR" dirty="0"/>
              <a:t>size(KMALLOC)</a:t>
            </a:r>
            <a:r>
              <a:rPr kumimoji="1" lang="ko-KR" altLang="en-US" dirty="0"/>
              <a:t> </a:t>
            </a:r>
            <a:endParaRPr kumimoji="1" lang="ko-Kore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7F9C742-21D4-FDA1-8409-EA911EE04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49" y="1268760"/>
            <a:ext cx="4484107" cy="5229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97E862-8092-5503-E19C-FA910E1612BA}"/>
              </a:ext>
            </a:extLst>
          </p:cNvPr>
          <p:cNvSpPr txBox="1"/>
          <p:nvPr/>
        </p:nvSpPr>
        <p:spPr>
          <a:xfrm>
            <a:off x="4988899" y="1270035"/>
            <a:ext cx="451101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&lt;</a:t>
            </a:r>
            <a:r>
              <a:rPr lang="en-US" altLang="ko-KR" b="1" spc="-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kmalloc</a:t>
            </a:r>
            <a:r>
              <a:rPr lang="en-US" altLang="ko-KR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()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&gt;</a:t>
            </a:r>
          </a:p>
          <a:p>
            <a:pPr>
              <a:spcBef>
                <a:spcPts val="360"/>
              </a:spcBef>
            </a:pPr>
            <a:r>
              <a:rPr lang="en-US" altLang="ko-KR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 </a:t>
            </a:r>
            <a:endParaRPr lang="en-US" altLang="ko-KR" b="1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〮 large size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의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object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크기는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2048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로 고정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  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- s-&gt;</a:t>
            </a:r>
            <a:r>
              <a:rPr lang="en-US" altLang="ko-KR" sz="1600" spc="-1" dirty="0" err="1">
                <a:solidFill>
                  <a:srgbClr val="000000"/>
                </a:solidFill>
                <a:latin typeface="Calibri"/>
              </a:rPr>
              <a:t>large_count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에는 사용한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object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개수 기입</a:t>
            </a: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large size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만큼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page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및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bitmap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할당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오른쪽 중괄호 6">
            <a:extLst>
              <a:ext uri="{FF2B5EF4-FFF2-40B4-BE49-F238E27FC236}">
                <a16:creationId xmlns:a16="http://schemas.microsoft.com/office/drawing/2014/main" id="{481582C4-B0B4-7A55-462B-3C8BE6F1D94B}"/>
              </a:ext>
            </a:extLst>
          </p:cNvPr>
          <p:cNvSpPr/>
          <p:nvPr/>
        </p:nvSpPr>
        <p:spPr>
          <a:xfrm>
            <a:off x="4938256" y="1913252"/>
            <a:ext cx="128189" cy="651652"/>
          </a:xfrm>
          <a:prstGeom prst="rightBrace">
            <a:avLst>
              <a:gd name="adj1" fmla="val 8333"/>
              <a:gd name="adj2" fmla="val 41138"/>
            </a:avLst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오른쪽 중괄호 8">
            <a:extLst>
              <a:ext uri="{FF2B5EF4-FFF2-40B4-BE49-F238E27FC236}">
                <a16:creationId xmlns:a16="http://schemas.microsoft.com/office/drawing/2014/main" id="{EF71B7B9-F96D-2B56-3666-D6E7F9588C7F}"/>
              </a:ext>
            </a:extLst>
          </p:cNvPr>
          <p:cNvSpPr/>
          <p:nvPr/>
        </p:nvSpPr>
        <p:spPr>
          <a:xfrm>
            <a:off x="4911354" y="2647091"/>
            <a:ext cx="155091" cy="2726125"/>
          </a:xfrm>
          <a:prstGeom prst="rightBrace">
            <a:avLst>
              <a:gd name="adj1" fmla="val 8333"/>
              <a:gd name="adj2" fmla="val 32557"/>
            </a:avLst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021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96CCE-E4C6-342A-E1D3-BF7B17B06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F9A43C-F0D7-CF2D-3D43-BC70EF793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5. Additional feature – large</a:t>
            </a:r>
            <a:r>
              <a:rPr kumimoji="1" lang="ko-KR" altLang="en-US" dirty="0"/>
              <a:t> </a:t>
            </a:r>
            <a:r>
              <a:rPr kumimoji="1" lang="en-US" altLang="ko-KR" dirty="0"/>
              <a:t>size(KMFREE)</a:t>
            </a:r>
            <a:r>
              <a:rPr kumimoji="1" lang="ko-KR" altLang="en-US" dirty="0"/>
              <a:t> </a:t>
            </a:r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53EB04-2543-B9EF-189D-45D83DE69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24744"/>
            <a:ext cx="4330824" cy="5532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B4A89E-0152-5484-ADE1-FC9C3DD06961}"/>
              </a:ext>
            </a:extLst>
          </p:cNvPr>
          <p:cNvSpPr txBox="1"/>
          <p:nvPr/>
        </p:nvSpPr>
        <p:spPr>
          <a:xfrm>
            <a:off x="5039542" y="1253749"/>
            <a:ext cx="421297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&lt;</a:t>
            </a:r>
            <a:r>
              <a:rPr lang="en-US" altLang="ko-KR" b="1" spc="-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kmfree</a:t>
            </a:r>
            <a:r>
              <a:rPr lang="en-US" altLang="ko-KR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()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&gt;</a:t>
            </a:r>
          </a:p>
          <a:p>
            <a:pPr>
              <a:spcBef>
                <a:spcPts val="360"/>
              </a:spcBef>
            </a:pPr>
            <a:r>
              <a:rPr lang="en-US" altLang="ko-KR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 </a:t>
            </a:r>
            <a:endParaRPr lang="en-US" altLang="ko-KR" b="1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〮 large size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의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object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크기는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2048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로 고정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  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- </a:t>
            </a:r>
            <a:r>
              <a:rPr lang="en-US" altLang="ko-KR" sz="1600" spc="-1" dirty="0" err="1">
                <a:solidFill>
                  <a:srgbClr val="000000"/>
                </a:solidFill>
                <a:latin typeface="Calibri"/>
              </a:rPr>
              <a:t>large_count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수만큼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page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및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bitmap free</a:t>
            </a:r>
          </a:p>
          <a:p>
            <a:pPr>
              <a:spcBef>
                <a:spcPts val="360"/>
              </a:spcBef>
            </a:pP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사용 중이지 않은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page free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처리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오른쪽 중괄호 6">
            <a:extLst>
              <a:ext uri="{FF2B5EF4-FFF2-40B4-BE49-F238E27FC236}">
                <a16:creationId xmlns:a16="http://schemas.microsoft.com/office/drawing/2014/main" id="{61D627ED-A20E-A1AD-5E20-8C38F7FCC2DA}"/>
              </a:ext>
            </a:extLst>
          </p:cNvPr>
          <p:cNvSpPr/>
          <p:nvPr/>
        </p:nvSpPr>
        <p:spPr>
          <a:xfrm>
            <a:off x="4941651" y="1844824"/>
            <a:ext cx="134405" cy="2185214"/>
          </a:xfrm>
          <a:prstGeom prst="rightBrace">
            <a:avLst>
              <a:gd name="adj1" fmla="val 8333"/>
              <a:gd name="adj2" fmla="val 41138"/>
            </a:avLst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오른쪽 중괄호 8">
            <a:extLst>
              <a:ext uri="{FF2B5EF4-FFF2-40B4-BE49-F238E27FC236}">
                <a16:creationId xmlns:a16="http://schemas.microsoft.com/office/drawing/2014/main" id="{DA0D215A-BB99-F503-477A-2BCF379FFB50}"/>
              </a:ext>
            </a:extLst>
          </p:cNvPr>
          <p:cNvSpPr/>
          <p:nvPr/>
        </p:nvSpPr>
        <p:spPr>
          <a:xfrm>
            <a:off x="4941650" y="4149080"/>
            <a:ext cx="134405" cy="2185214"/>
          </a:xfrm>
          <a:prstGeom prst="rightBrace">
            <a:avLst>
              <a:gd name="adj1" fmla="val 8333"/>
              <a:gd name="adj2" fmla="val 41138"/>
            </a:avLst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AF4F2B3-D228-78D7-8B5F-5F1725E74A78}"/>
              </a:ext>
            </a:extLst>
          </p:cNvPr>
          <p:cNvSpPr/>
          <p:nvPr/>
        </p:nvSpPr>
        <p:spPr>
          <a:xfrm>
            <a:off x="1259632" y="6165304"/>
            <a:ext cx="658416" cy="914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609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C812E-EFAA-4AD7-FCD3-43976AEDA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2F9934-1D47-7181-5BCD-AC7F12C2E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5. Additional feature – large</a:t>
            </a:r>
            <a:r>
              <a:rPr kumimoji="1" lang="ko-KR" altLang="en-US" dirty="0"/>
              <a:t> </a:t>
            </a:r>
            <a:r>
              <a:rPr kumimoji="1" lang="en-US" altLang="ko-KR" dirty="0"/>
              <a:t>size(testcase)</a:t>
            </a:r>
            <a:endParaRPr kumimoji="1" lang="ko-Kore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D25F16-2EDE-EC6C-4EB0-BE8A2CF09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61" y="1916832"/>
            <a:ext cx="7499877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15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1027" name="Picture 3" descr="C:\Users\Kilho Lee\Dropbox\Research documents\Lab_misc\연구실로고\MISYS 세로-컬러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176" y="2276872"/>
            <a:ext cx="2195944" cy="1763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548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8575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smtClean="0">
            <a:solidFill>
              <a:schemeClr val="tx1"/>
            </a:solidFill>
            <a:latin typeface="Calibri" pitchFamily="34" charset="0"/>
            <a:cs typeface="Calibri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0D0D0D"/>
          </a:solidFill>
          <a:prstDash val="solid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2538</TotalTime>
  <Words>544</Words>
  <Application>Microsoft Office PowerPoint</Application>
  <PresentationFormat>화면 슬라이드 쇼(4:3)</PresentationFormat>
  <Paragraphs>112</Paragraphs>
  <Slides>13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Calibri</vt:lpstr>
      <vt:lpstr>Office 테마</vt:lpstr>
      <vt:lpstr>XV6_slab_allocator_v2  (c) P#2 Progress Report 2025.07.29</vt:lpstr>
      <vt:lpstr>Outline</vt:lpstr>
      <vt:lpstr>1. slabinit()</vt:lpstr>
      <vt:lpstr>2. Kmalloc()</vt:lpstr>
      <vt:lpstr>3. kmfree()</vt:lpstr>
      <vt:lpstr>4. 추가함수</vt:lpstr>
      <vt:lpstr>4. 추가함수</vt:lpstr>
      <vt:lpstr>5. Additional testcode</vt:lpstr>
      <vt:lpstr>5. Additional testcode</vt:lpstr>
      <vt:lpstr>5. Additional feature – large size(KMALLOC) </vt:lpstr>
      <vt:lpstr>5. Additional feature – large size(KMFREE) </vt:lpstr>
      <vt:lpstr>5. Additional feature – large size(testcase)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</dc:creator>
  <cp:lastModifiedBy>김찬형</cp:lastModifiedBy>
  <cp:revision>45</cp:revision>
  <dcterms:created xsi:type="dcterms:W3CDTF">2022-07-04T05:58:26Z</dcterms:created>
  <dcterms:modified xsi:type="dcterms:W3CDTF">2025-07-29T07:12:58Z</dcterms:modified>
</cp:coreProperties>
</file>